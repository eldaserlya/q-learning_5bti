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assion One Bold" charset="1" panose="02000506050000020004"/>
      <p:regular r:id="rId29"/>
    </p:embeddedFont>
    <p:embeddedFont>
      <p:font typeface="Inter Bold" charset="1" panose="020B0802030000000004"/>
      <p:regular r:id="rId30"/>
    </p:embeddedFont>
    <p:embeddedFont>
      <p:font typeface="Inter Semi-Bold" charset="1" panose="02000503000000020004"/>
      <p:regular r:id="rId31"/>
    </p:embeddedFont>
    <p:embeddedFont>
      <p:font typeface="Inter" charset="1" panose="020B05020300000000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0.png" Type="http://schemas.openxmlformats.org/officeDocument/2006/relationships/image"/><Relationship Id="rId5"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87566" y="9557081"/>
            <a:ext cx="10746403" cy="1118531"/>
            <a:chOff x="0" y="0"/>
            <a:chExt cx="2830328" cy="294593"/>
          </a:xfrm>
        </p:grpSpPr>
        <p:sp>
          <p:nvSpPr>
            <p:cNvPr name="Freeform 3" id="3"/>
            <p:cNvSpPr/>
            <p:nvPr/>
          </p:nvSpPr>
          <p:spPr>
            <a:xfrm flipH="false" flipV="false" rot="0">
              <a:off x="0" y="0"/>
              <a:ext cx="2830328" cy="294593"/>
            </a:xfrm>
            <a:custGeom>
              <a:avLst/>
              <a:gdLst/>
              <a:ahLst/>
              <a:cxnLst/>
              <a:rect r="r" b="b" t="t" l="l"/>
              <a:pathLst>
                <a:path h="294593" w="2830328">
                  <a:moveTo>
                    <a:pt x="0" y="0"/>
                  </a:moveTo>
                  <a:lnTo>
                    <a:pt x="2830328" y="0"/>
                  </a:lnTo>
                  <a:lnTo>
                    <a:pt x="2830328" y="294593"/>
                  </a:lnTo>
                  <a:lnTo>
                    <a:pt x="0" y="294593"/>
                  </a:lnTo>
                  <a:close/>
                </a:path>
              </a:pathLst>
            </a:custGeom>
            <a:solidFill>
              <a:srgbClr val="043EA2"/>
            </a:solidFill>
          </p:spPr>
        </p:sp>
        <p:sp>
          <p:nvSpPr>
            <p:cNvPr name="TextBox 4" id="4"/>
            <p:cNvSpPr txBox="true"/>
            <p:nvPr/>
          </p:nvSpPr>
          <p:spPr>
            <a:xfrm>
              <a:off x="0" y="-38100"/>
              <a:ext cx="2830328" cy="3326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08264" y="-336651"/>
            <a:ext cx="13989122" cy="8603985"/>
            <a:chOff x="0" y="0"/>
            <a:chExt cx="532179" cy="327316"/>
          </a:xfrm>
        </p:grpSpPr>
        <p:sp>
          <p:nvSpPr>
            <p:cNvPr name="Freeform 6" id="6"/>
            <p:cNvSpPr/>
            <p:nvPr/>
          </p:nvSpPr>
          <p:spPr>
            <a:xfrm flipH="false" flipV="false" rot="0">
              <a:off x="0" y="0"/>
              <a:ext cx="532179" cy="327316"/>
            </a:xfrm>
            <a:custGeom>
              <a:avLst/>
              <a:gdLst/>
              <a:ahLst/>
              <a:cxnLst/>
              <a:rect r="r" b="b" t="t" l="l"/>
              <a:pathLst>
                <a:path h="327316" w="532179">
                  <a:moveTo>
                    <a:pt x="328979" y="0"/>
                  </a:moveTo>
                  <a:lnTo>
                    <a:pt x="0" y="0"/>
                  </a:lnTo>
                  <a:lnTo>
                    <a:pt x="203200" y="327316"/>
                  </a:lnTo>
                  <a:lnTo>
                    <a:pt x="532179" y="327316"/>
                  </a:lnTo>
                  <a:lnTo>
                    <a:pt x="328979" y="0"/>
                  </a:lnTo>
                  <a:close/>
                </a:path>
              </a:pathLst>
            </a:custGeom>
            <a:blipFill>
              <a:blip r:embed="rId2"/>
              <a:stretch>
                <a:fillRect l="-2873" t="0" r="-9978" b="0"/>
              </a:stretch>
            </a:blipFill>
          </p:spPr>
        </p:sp>
      </p:grpSp>
      <p:sp>
        <p:nvSpPr>
          <p:cNvPr name="Freeform 7" id="7"/>
          <p:cNvSpPr/>
          <p:nvPr/>
        </p:nvSpPr>
        <p:spPr>
          <a:xfrm flipH="false" flipV="false" rot="0">
            <a:off x="-1135454" y="3857139"/>
            <a:ext cx="11093947" cy="6697970"/>
          </a:xfrm>
          <a:custGeom>
            <a:avLst/>
            <a:gdLst/>
            <a:ahLst/>
            <a:cxnLst/>
            <a:rect r="r" b="b" t="t" l="l"/>
            <a:pathLst>
              <a:path h="6697970" w="11093947">
                <a:moveTo>
                  <a:pt x="0" y="0"/>
                </a:moveTo>
                <a:lnTo>
                  <a:pt x="11093947" y="0"/>
                </a:lnTo>
                <a:lnTo>
                  <a:pt x="11093947" y="6697970"/>
                </a:lnTo>
                <a:lnTo>
                  <a:pt x="0" y="6697970"/>
                </a:lnTo>
                <a:lnTo>
                  <a:pt x="0" y="0"/>
                </a:lnTo>
                <a:close/>
              </a:path>
            </a:pathLst>
          </a:custGeom>
          <a:blipFill>
            <a:blip r:embed="rId3"/>
            <a:stretch>
              <a:fillRect l="0" t="0" r="0" b="0"/>
            </a:stretch>
          </a:blipFill>
        </p:spPr>
      </p:sp>
      <p:grpSp>
        <p:nvGrpSpPr>
          <p:cNvPr name="Group 8" id="8"/>
          <p:cNvGrpSpPr/>
          <p:nvPr/>
        </p:nvGrpSpPr>
        <p:grpSpPr>
          <a:xfrm rot="0">
            <a:off x="5205065" y="3500654"/>
            <a:ext cx="2011269" cy="1105069"/>
            <a:chOff x="0" y="0"/>
            <a:chExt cx="702599" cy="386035"/>
          </a:xfrm>
        </p:grpSpPr>
        <p:sp>
          <p:nvSpPr>
            <p:cNvPr name="Freeform 9" id="9"/>
            <p:cNvSpPr/>
            <p:nvPr/>
          </p:nvSpPr>
          <p:spPr>
            <a:xfrm flipH="false" flipV="false" rot="0">
              <a:off x="0" y="0"/>
              <a:ext cx="702598" cy="386035"/>
            </a:xfrm>
            <a:custGeom>
              <a:avLst/>
              <a:gdLst/>
              <a:ahLst/>
              <a:cxnLst/>
              <a:rect r="r" b="b" t="t" l="l"/>
              <a:pathLst>
                <a:path h="386035" w="702598">
                  <a:moveTo>
                    <a:pt x="499398" y="0"/>
                  </a:moveTo>
                  <a:lnTo>
                    <a:pt x="0" y="0"/>
                  </a:lnTo>
                  <a:lnTo>
                    <a:pt x="203200" y="386035"/>
                  </a:lnTo>
                  <a:lnTo>
                    <a:pt x="702598" y="386035"/>
                  </a:lnTo>
                  <a:lnTo>
                    <a:pt x="499398" y="0"/>
                  </a:lnTo>
                  <a:close/>
                </a:path>
              </a:pathLst>
            </a:custGeom>
            <a:solidFill>
              <a:srgbClr val="235FBD"/>
            </a:solidFill>
          </p:spPr>
        </p:sp>
        <p:sp>
          <p:nvSpPr>
            <p:cNvPr name="TextBox 10" id="10"/>
            <p:cNvSpPr txBox="true"/>
            <p:nvPr/>
          </p:nvSpPr>
          <p:spPr>
            <a:xfrm>
              <a:off x="101600" y="-38100"/>
              <a:ext cx="499399" cy="424135"/>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true" flipV="true" rot="0">
            <a:off x="12269423" y="-140063"/>
            <a:ext cx="6230002" cy="3761364"/>
          </a:xfrm>
          <a:custGeom>
            <a:avLst/>
            <a:gdLst/>
            <a:ahLst/>
            <a:cxnLst/>
            <a:rect r="r" b="b" t="t" l="l"/>
            <a:pathLst>
              <a:path h="3761364" w="6230002">
                <a:moveTo>
                  <a:pt x="6230002" y="3761364"/>
                </a:moveTo>
                <a:lnTo>
                  <a:pt x="0" y="3761364"/>
                </a:lnTo>
                <a:lnTo>
                  <a:pt x="0" y="0"/>
                </a:lnTo>
                <a:lnTo>
                  <a:pt x="6230002" y="0"/>
                </a:lnTo>
                <a:lnTo>
                  <a:pt x="6230002" y="3761364"/>
                </a:lnTo>
                <a:close/>
              </a:path>
            </a:pathLst>
          </a:custGeom>
          <a:blipFill>
            <a:blip r:embed="rId4"/>
            <a:stretch>
              <a:fillRect l="0" t="0" r="0" b="0"/>
            </a:stretch>
          </a:blipFill>
        </p:spPr>
      </p:sp>
      <p:sp>
        <p:nvSpPr>
          <p:cNvPr name="Freeform 12" id="12"/>
          <p:cNvSpPr/>
          <p:nvPr/>
        </p:nvSpPr>
        <p:spPr>
          <a:xfrm flipH="false" flipV="false" rot="0">
            <a:off x="9511566" y="8323244"/>
            <a:ext cx="296819" cy="285688"/>
          </a:xfrm>
          <a:custGeom>
            <a:avLst/>
            <a:gdLst/>
            <a:ahLst/>
            <a:cxnLst/>
            <a:rect r="r" b="b" t="t" l="l"/>
            <a:pathLst>
              <a:path h="285688" w="296819">
                <a:moveTo>
                  <a:pt x="0" y="0"/>
                </a:moveTo>
                <a:lnTo>
                  <a:pt x="296819" y="0"/>
                </a:lnTo>
                <a:lnTo>
                  <a:pt x="296819" y="285689"/>
                </a:lnTo>
                <a:lnTo>
                  <a:pt x="0" y="2856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9511566" y="1667633"/>
            <a:ext cx="348879" cy="346699"/>
          </a:xfrm>
          <a:custGeom>
            <a:avLst/>
            <a:gdLst/>
            <a:ahLst/>
            <a:cxnLst/>
            <a:rect r="r" b="b" t="t" l="l"/>
            <a:pathLst>
              <a:path h="346699" w="348879">
                <a:moveTo>
                  <a:pt x="0" y="0"/>
                </a:moveTo>
                <a:lnTo>
                  <a:pt x="348880" y="0"/>
                </a:lnTo>
                <a:lnTo>
                  <a:pt x="348880" y="346699"/>
                </a:lnTo>
                <a:lnTo>
                  <a:pt x="0" y="3466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5847114" y="3689603"/>
            <a:ext cx="727170" cy="727170"/>
          </a:xfrm>
          <a:custGeom>
            <a:avLst/>
            <a:gdLst/>
            <a:ahLst/>
            <a:cxnLst/>
            <a:rect r="r" b="b" t="t" l="l"/>
            <a:pathLst>
              <a:path h="727170" w="727170">
                <a:moveTo>
                  <a:pt x="0" y="0"/>
                </a:moveTo>
                <a:lnTo>
                  <a:pt x="727170" y="0"/>
                </a:lnTo>
                <a:lnTo>
                  <a:pt x="727170" y="727170"/>
                </a:lnTo>
                <a:lnTo>
                  <a:pt x="0" y="7271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4792893" y="-671549"/>
            <a:ext cx="2835613" cy="3267149"/>
          </a:xfrm>
          <a:custGeom>
            <a:avLst/>
            <a:gdLst/>
            <a:ahLst/>
            <a:cxnLst/>
            <a:rect r="r" b="b" t="t" l="l"/>
            <a:pathLst>
              <a:path h="3267149" w="2835613">
                <a:moveTo>
                  <a:pt x="0" y="0"/>
                </a:moveTo>
                <a:lnTo>
                  <a:pt x="2835612" y="0"/>
                </a:lnTo>
                <a:lnTo>
                  <a:pt x="2835612" y="3267148"/>
                </a:lnTo>
                <a:lnTo>
                  <a:pt x="0" y="32671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true" flipV="false" rot="0">
            <a:off x="15554629" y="8007322"/>
            <a:ext cx="1610937" cy="765195"/>
          </a:xfrm>
          <a:custGeom>
            <a:avLst/>
            <a:gdLst/>
            <a:ahLst/>
            <a:cxnLst/>
            <a:rect r="r" b="b" t="t" l="l"/>
            <a:pathLst>
              <a:path h="765195" w="1610937">
                <a:moveTo>
                  <a:pt x="1610937" y="0"/>
                </a:moveTo>
                <a:lnTo>
                  <a:pt x="0" y="0"/>
                </a:lnTo>
                <a:lnTo>
                  <a:pt x="0" y="765195"/>
                </a:lnTo>
                <a:lnTo>
                  <a:pt x="1610937" y="765195"/>
                </a:lnTo>
                <a:lnTo>
                  <a:pt x="1610937"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8458603" y="2878933"/>
            <a:ext cx="8706963" cy="1675236"/>
          </a:xfrm>
          <a:prstGeom prst="rect">
            <a:avLst/>
          </a:prstGeom>
        </p:spPr>
        <p:txBody>
          <a:bodyPr anchor="t" rtlCol="false" tIns="0" lIns="0" bIns="0" rIns="0">
            <a:spAutoFit/>
          </a:bodyPr>
          <a:lstStyle/>
          <a:p>
            <a:pPr algn="l">
              <a:lnSpc>
                <a:spcPts val="12667"/>
              </a:lnSpc>
            </a:pPr>
            <a:r>
              <a:rPr lang="en-US" sz="12299" b="true">
                <a:solidFill>
                  <a:srgbClr val="0E2F81"/>
                </a:solidFill>
                <a:latin typeface="Passion One Bold"/>
                <a:ea typeface="Passion One Bold"/>
                <a:cs typeface="Passion One Bold"/>
                <a:sym typeface="Passion One Bold"/>
              </a:rPr>
              <a:t>Q-LEARNING</a:t>
            </a:r>
          </a:p>
        </p:txBody>
      </p:sp>
      <p:sp>
        <p:nvSpPr>
          <p:cNvPr name="TextBox 18" id="18"/>
          <p:cNvSpPr txBox="true"/>
          <p:nvPr/>
        </p:nvSpPr>
        <p:spPr>
          <a:xfrm rot="0">
            <a:off x="9144000" y="4904756"/>
            <a:ext cx="7653999" cy="2739390"/>
          </a:xfrm>
          <a:prstGeom prst="rect">
            <a:avLst/>
          </a:prstGeom>
        </p:spPr>
        <p:txBody>
          <a:bodyPr anchor="t" rtlCol="false" tIns="0" lIns="0" bIns="0" rIns="0">
            <a:spAutoFit/>
          </a:bodyPr>
          <a:lstStyle/>
          <a:p>
            <a:pPr algn="ctr">
              <a:lnSpc>
                <a:spcPts val="3645"/>
              </a:lnSpc>
            </a:pPr>
            <a:r>
              <a:rPr lang="en-US" b="true" sz="2700">
                <a:solidFill>
                  <a:srgbClr val="000000"/>
                </a:solidFill>
                <a:latin typeface="Inter Bold"/>
                <a:ea typeface="Inter Bold"/>
                <a:cs typeface="Inter Bold"/>
                <a:sym typeface="Inter Bold"/>
              </a:rPr>
              <a:t>OLEH KELOMPOK - 7</a:t>
            </a:r>
          </a:p>
          <a:p>
            <a:pPr algn="l">
              <a:lnSpc>
                <a:spcPts val="3645"/>
              </a:lnSpc>
            </a:pPr>
          </a:p>
          <a:p>
            <a:pPr algn="l">
              <a:lnSpc>
                <a:spcPts val="3645"/>
              </a:lnSpc>
            </a:pPr>
            <a:r>
              <a:rPr lang="en-US" sz="2700" b="true">
                <a:solidFill>
                  <a:srgbClr val="000000"/>
                </a:solidFill>
                <a:latin typeface="Inter Bold"/>
                <a:ea typeface="Inter Bold"/>
                <a:cs typeface="Inter Bold"/>
                <a:sym typeface="Inter Bold"/>
              </a:rPr>
              <a:t>AGNES ADELIA PUTRI (233307031)</a:t>
            </a:r>
          </a:p>
          <a:p>
            <a:pPr algn="l">
              <a:lnSpc>
                <a:spcPts val="3645"/>
              </a:lnSpc>
            </a:pPr>
            <a:r>
              <a:rPr lang="en-US" sz="2700" b="true">
                <a:solidFill>
                  <a:srgbClr val="000000"/>
                </a:solidFill>
                <a:latin typeface="Inter Bold"/>
                <a:ea typeface="Inter Bold"/>
                <a:cs typeface="Inter Bold"/>
                <a:sym typeface="Inter Bold"/>
              </a:rPr>
              <a:t>CHANDRA DINA SEFRILLIAN (233307038)</a:t>
            </a:r>
          </a:p>
          <a:p>
            <a:pPr algn="l">
              <a:lnSpc>
                <a:spcPts val="3645"/>
              </a:lnSpc>
            </a:pPr>
            <a:r>
              <a:rPr lang="en-US" sz="2700" b="true">
                <a:solidFill>
                  <a:srgbClr val="000000"/>
                </a:solidFill>
                <a:latin typeface="Inter Bold"/>
                <a:ea typeface="Inter Bold"/>
                <a:cs typeface="Inter Bold"/>
                <a:sym typeface="Inter Bold"/>
              </a:rPr>
              <a:t>ELDA SERLYA DWI SEVIANA (233307044)</a:t>
            </a:r>
          </a:p>
          <a:p>
            <a:pPr algn="l">
              <a:lnSpc>
                <a:spcPts val="3645"/>
              </a:lnSpc>
            </a:pPr>
            <a:r>
              <a:rPr lang="en-US" sz="2700" b="true">
                <a:solidFill>
                  <a:srgbClr val="000000"/>
                </a:solidFill>
                <a:latin typeface="Inter Bold"/>
                <a:ea typeface="Inter Bold"/>
                <a:cs typeface="Inter Bold"/>
                <a:sym typeface="Inter Bold"/>
              </a:rPr>
              <a:t>KHOIRUL FAULAH NUR R (233307052)</a:t>
            </a:r>
          </a:p>
        </p:txBody>
      </p:sp>
      <p:sp>
        <p:nvSpPr>
          <p:cNvPr name="TextBox 19" id="19"/>
          <p:cNvSpPr txBox="true"/>
          <p:nvPr/>
        </p:nvSpPr>
        <p:spPr>
          <a:xfrm rot="0">
            <a:off x="10063140" y="8221614"/>
            <a:ext cx="4060341" cy="431800"/>
          </a:xfrm>
          <a:prstGeom prst="rect">
            <a:avLst/>
          </a:prstGeom>
        </p:spPr>
        <p:txBody>
          <a:bodyPr anchor="t" rtlCol="false" tIns="0" lIns="0" bIns="0" rIns="0">
            <a:spAutoFit/>
          </a:bodyPr>
          <a:lstStyle/>
          <a:p>
            <a:pPr algn="l">
              <a:lnSpc>
                <a:spcPts val="3500"/>
              </a:lnSpc>
            </a:pPr>
            <a:r>
              <a:rPr lang="en-US" sz="2500" b="true">
                <a:solidFill>
                  <a:srgbClr val="000000"/>
                </a:solidFill>
                <a:latin typeface="Inter Semi-Bold"/>
                <a:ea typeface="Inter Semi-Bold"/>
                <a:cs typeface="Inter Semi-Bold"/>
                <a:sym typeface="Inter Semi-Bold"/>
              </a:rPr>
              <a:t>www.qlearning</a:t>
            </a:r>
            <a:r>
              <a:rPr lang="en-US" sz="2500" b="true">
                <a:solidFill>
                  <a:srgbClr val="000000"/>
                </a:solidFill>
                <a:latin typeface="Inter Semi-Bold"/>
                <a:ea typeface="Inter Semi-Bold"/>
                <a:cs typeface="Inter Semi-Bold"/>
                <a:sym typeface="Inter Semi-Bold"/>
              </a:rPr>
              <a:t>.com</a:t>
            </a:r>
          </a:p>
        </p:txBody>
      </p:sp>
      <p:sp>
        <p:nvSpPr>
          <p:cNvPr name="TextBox 20" id="20"/>
          <p:cNvSpPr txBox="true"/>
          <p:nvPr/>
        </p:nvSpPr>
        <p:spPr>
          <a:xfrm rot="0">
            <a:off x="10088395" y="1596508"/>
            <a:ext cx="3895533" cy="431800"/>
          </a:xfrm>
          <a:prstGeom prst="rect">
            <a:avLst/>
          </a:prstGeom>
        </p:spPr>
        <p:txBody>
          <a:bodyPr anchor="t" rtlCol="false" tIns="0" lIns="0" bIns="0" rIns="0">
            <a:spAutoFit/>
          </a:bodyPr>
          <a:lstStyle/>
          <a:p>
            <a:pPr algn="l">
              <a:lnSpc>
                <a:spcPts val="3500"/>
              </a:lnSpc>
            </a:pPr>
            <a:r>
              <a:rPr lang="en-US" sz="2500" b="true">
                <a:solidFill>
                  <a:srgbClr val="000000"/>
                </a:solidFill>
                <a:latin typeface="Inter Semi-Bold"/>
                <a:ea typeface="Inter Semi-Bold"/>
                <a:cs typeface="Inter Semi-Bold"/>
                <a:sym typeface="Inter Semi-Bold"/>
              </a:rPr>
              <a:t>DATA SCIENCE 5B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94694"/>
            <a:ext cx="4079096" cy="6500551"/>
          </a:xfrm>
          <a:custGeom>
            <a:avLst/>
            <a:gdLst/>
            <a:ahLst/>
            <a:cxnLst/>
            <a:rect r="r" b="b" t="t" l="l"/>
            <a:pathLst>
              <a:path h="6500551" w="4079096">
                <a:moveTo>
                  <a:pt x="0" y="6500551"/>
                </a:moveTo>
                <a:lnTo>
                  <a:pt x="4079096" y="6500551"/>
                </a:lnTo>
                <a:lnTo>
                  <a:pt x="4079096" y="0"/>
                </a:lnTo>
                <a:lnTo>
                  <a:pt x="0" y="0"/>
                </a:lnTo>
                <a:lnTo>
                  <a:pt x="0" y="6500551"/>
                </a:lnTo>
                <a:close/>
              </a:path>
            </a:pathLst>
          </a:custGeom>
          <a:blipFill>
            <a:blip r:embed="rId2"/>
            <a:stretch>
              <a:fillRect l="0" t="0" r="0" b="0"/>
            </a:stretch>
          </a:blipFill>
        </p:spPr>
      </p:sp>
      <p:grpSp>
        <p:nvGrpSpPr>
          <p:cNvPr name="Group 3" id="3"/>
          <p:cNvGrpSpPr/>
          <p:nvPr/>
        </p:nvGrpSpPr>
        <p:grpSpPr>
          <a:xfrm rot="0">
            <a:off x="-305797" y="9582402"/>
            <a:ext cx="18899594" cy="985414"/>
            <a:chOff x="0" y="0"/>
            <a:chExt cx="4977671" cy="259533"/>
          </a:xfrm>
        </p:grpSpPr>
        <p:sp>
          <p:nvSpPr>
            <p:cNvPr name="Freeform 4" id="4"/>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5" id="5"/>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659934" y="1114425"/>
            <a:ext cx="4503392"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HIPOTESIS</a:t>
            </a:r>
          </a:p>
        </p:txBody>
      </p:sp>
      <p:sp>
        <p:nvSpPr>
          <p:cNvPr name="TextBox 7" id="7"/>
          <p:cNvSpPr txBox="true"/>
          <p:nvPr/>
        </p:nvSpPr>
        <p:spPr>
          <a:xfrm rot="0">
            <a:off x="2414105" y="3278295"/>
            <a:ext cx="14451521" cy="4535319"/>
          </a:xfrm>
          <a:prstGeom prst="rect">
            <a:avLst/>
          </a:prstGeom>
        </p:spPr>
        <p:txBody>
          <a:bodyPr anchor="t" rtlCol="false" tIns="0" lIns="0" bIns="0" rIns="0">
            <a:spAutoFit/>
          </a:bodyPr>
          <a:lstStyle/>
          <a:p>
            <a:pPr algn="just">
              <a:lnSpc>
                <a:spcPts val="4478"/>
              </a:lnSpc>
            </a:pPr>
            <a:r>
              <a:rPr lang="en-US" sz="3198" b="true">
                <a:solidFill>
                  <a:srgbClr val="000000"/>
                </a:solidFill>
                <a:latin typeface="Inter Semi-Bold"/>
                <a:ea typeface="Inter Semi-Bold"/>
                <a:cs typeface="Inter Semi-Bold"/>
                <a:sym typeface="Inter Semi-Bold"/>
              </a:rPr>
              <a:t>jika sebuah agen ditempatkan dalam suatu lingkungan dan diberi kesempatan untuk mencoba berbagai aksi dengan mendapatkan reward (nilai) atau hukuman pada setiap langkah, maka dengan menggunakan algoritma Q-Learning agen tersebut akan belajar dari pengalamannya. Melalui proses mencoba berulang kali dan mengubah nilai Q di dalam Q-Table, agen diduga lama-kelamaan dapat menemukan pola tindakan yang menghasilkan reward total lebih besar, sehingga mampu mengambil keputusan yang semakin baik dari waktu ke waktu.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2410"/>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062921" y="3199514"/>
            <a:ext cx="11850993" cy="3246868"/>
          </a:xfrm>
          <a:prstGeom prst="rect">
            <a:avLst/>
          </a:prstGeom>
        </p:spPr>
        <p:txBody>
          <a:bodyPr anchor="t" rtlCol="false" tIns="0" lIns="0" bIns="0" rIns="0">
            <a:spAutoFit/>
          </a:bodyPr>
          <a:lstStyle/>
          <a:p>
            <a:pPr algn="ctr">
              <a:lnSpc>
                <a:spcPts val="12538"/>
              </a:lnSpc>
            </a:pPr>
            <a:r>
              <a:rPr lang="en-US" b="true" sz="11829">
                <a:solidFill>
                  <a:srgbClr val="000000"/>
                </a:solidFill>
                <a:latin typeface="Passion One Bold"/>
                <a:ea typeface="Passion One Bold"/>
                <a:cs typeface="Passion One Bold"/>
                <a:sym typeface="Passion One Bold"/>
              </a:rPr>
              <a:t>TEORI</a:t>
            </a:r>
          </a:p>
          <a:p>
            <a:pPr algn="ctr">
              <a:lnSpc>
                <a:spcPts val="12538"/>
              </a:lnSpc>
            </a:pPr>
            <a:r>
              <a:rPr lang="en-US" b="true" sz="11829">
                <a:solidFill>
                  <a:srgbClr val="000000"/>
                </a:solidFill>
                <a:latin typeface="Passion One Bold"/>
                <a:ea typeface="Passion One Bold"/>
                <a:cs typeface="Passion One Bold"/>
                <a:sym typeface="Passion One Bold"/>
              </a:rPr>
              <a:t> </a:t>
            </a:r>
            <a:r>
              <a:rPr lang="en-US" b="true" sz="11829">
                <a:solidFill>
                  <a:srgbClr val="0E2F81"/>
                </a:solidFill>
                <a:latin typeface="Passion One Bold"/>
                <a:ea typeface="Passion One Bold"/>
                <a:cs typeface="Passion One Bold"/>
                <a:sym typeface="Passion One Bold"/>
              </a:rPr>
              <a:t>Q-LEARNING</a:t>
            </a:r>
          </a:p>
        </p:txBody>
      </p:sp>
      <p:grpSp>
        <p:nvGrpSpPr>
          <p:cNvPr name="Group 7" id="7"/>
          <p:cNvGrpSpPr/>
          <p:nvPr/>
        </p:nvGrpSpPr>
        <p:grpSpPr>
          <a:xfrm rot="0">
            <a:off x="-153397" y="9734802"/>
            <a:ext cx="18899594" cy="985414"/>
            <a:chOff x="0" y="0"/>
            <a:chExt cx="4977671" cy="259533"/>
          </a:xfrm>
        </p:grpSpPr>
        <p:sp>
          <p:nvSpPr>
            <p:cNvPr name="Freeform 8" id="8"/>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9" id="9"/>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5797" y="9582402"/>
            <a:ext cx="18899594" cy="985414"/>
            <a:chOff x="0" y="0"/>
            <a:chExt cx="4977671" cy="259533"/>
          </a:xfrm>
        </p:grpSpPr>
        <p:sp>
          <p:nvSpPr>
            <p:cNvPr name="Freeform 3" id="3"/>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4" id="4"/>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true" rot="0">
            <a:off x="-968833" y="-156134"/>
            <a:ext cx="4079096" cy="6500551"/>
          </a:xfrm>
          <a:custGeom>
            <a:avLst/>
            <a:gdLst/>
            <a:ahLst/>
            <a:cxnLst/>
            <a:rect r="r" b="b" t="t" l="l"/>
            <a:pathLst>
              <a:path h="6500551" w="4079096">
                <a:moveTo>
                  <a:pt x="0" y="6500551"/>
                </a:moveTo>
                <a:lnTo>
                  <a:pt x="4079095" y="6500551"/>
                </a:lnTo>
                <a:lnTo>
                  <a:pt x="4079095" y="0"/>
                </a:lnTo>
                <a:lnTo>
                  <a:pt x="0" y="0"/>
                </a:lnTo>
                <a:lnTo>
                  <a:pt x="0" y="6500551"/>
                </a:lnTo>
                <a:close/>
              </a:path>
            </a:pathLst>
          </a:custGeom>
          <a:blipFill>
            <a:blip r:embed="rId2"/>
            <a:stretch>
              <a:fillRect l="0" t="0" r="0" b="0"/>
            </a:stretch>
          </a:blipFill>
        </p:spPr>
      </p:sp>
      <p:sp>
        <p:nvSpPr>
          <p:cNvPr name="TextBox 6" id="6"/>
          <p:cNvSpPr txBox="true"/>
          <p:nvPr/>
        </p:nvSpPr>
        <p:spPr>
          <a:xfrm rot="0">
            <a:off x="3110262" y="1548111"/>
            <a:ext cx="10787448"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PENGERTIAN </a:t>
            </a:r>
            <a:r>
              <a:rPr lang="en-US" sz="7299" b="true">
                <a:solidFill>
                  <a:srgbClr val="0E2F81"/>
                </a:solidFill>
                <a:latin typeface="Passion One Bold"/>
                <a:ea typeface="Passion One Bold"/>
                <a:cs typeface="Passion One Bold"/>
                <a:sym typeface="Passion One Bold"/>
              </a:rPr>
              <a:t>Q - LEARNING</a:t>
            </a:r>
          </a:p>
        </p:txBody>
      </p:sp>
      <p:sp>
        <p:nvSpPr>
          <p:cNvPr name="TextBox 7" id="7"/>
          <p:cNvSpPr txBox="true"/>
          <p:nvPr/>
        </p:nvSpPr>
        <p:spPr>
          <a:xfrm rot="0">
            <a:off x="2768485" y="3036992"/>
            <a:ext cx="12067769" cy="5763216"/>
          </a:xfrm>
          <a:prstGeom prst="rect">
            <a:avLst/>
          </a:prstGeom>
        </p:spPr>
        <p:txBody>
          <a:bodyPr anchor="t" rtlCol="false" tIns="0" lIns="0" bIns="0" rIns="0">
            <a:spAutoFit/>
          </a:bodyPr>
          <a:lstStyle/>
          <a:p>
            <a:pPr algn="just">
              <a:lnSpc>
                <a:spcPts val="3852"/>
              </a:lnSpc>
            </a:pPr>
            <a:r>
              <a:rPr lang="en-US" sz="2751">
                <a:solidFill>
                  <a:srgbClr val="000000"/>
                </a:solidFill>
                <a:latin typeface="Inter"/>
                <a:ea typeface="Inter"/>
                <a:cs typeface="Inter"/>
                <a:sym typeface="Inter"/>
              </a:rPr>
              <a:t>Q-Learning adalah algoritma Reinforcement Learning yang mengajarkan agen mengambil keputusan terbaik lewat proses trial-and-error. Berbeda dengan metode Machine Learning lain, Q-Learning tidak membutuhkan dataset apa pun. Algoritma ini tidak belajar dari data yang sudah tersedia, tetapi belajar langsung dari interaksi agen dengan lingkungan.  ini menggunakan tabel nilai</a:t>
            </a:r>
            <a:r>
              <a:rPr lang="en-US" sz="2751">
                <a:solidFill>
                  <a:srgbClr val="000000"/>
                </a:solidFill>
                <a:latin typeface="Inter"/>
                <a:ea typeface="Inter"/>
                <a:cs typeface="Inter"/>
                <a:sym typeface="Inter"/>
              </a:rPr>
              <a:t> (Q-Table) untuk menyimpan nilai kualitas suatu tindakan (action) pada kondisi tertentu (state). Selama belajar, agen mencoba berbagai aksi, menerima reward atau hukuman, lalu memperbarui nilai Q menggunakan persamaan Bellman. Dengan cara ini, agen dapat menemukan strategi optimal tanpa perlu mengetahui aturan lingkungan terlebih dahulu.</a:t>
            </a:r>
          </a:p>
          <a:p>
            <a:pPr algn="just">
              <a:lnSpc>
                <a:spcPts val="343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4635217" y="-133906"/>
            <a:ext cx="4079096" cy="6500551"/>
          </a:xfrm>
          <a:custGeom>
            <a:avLst/>
            <a:gdLst/>
            <a:ahLst/>
            <a:cxnLst/>
            <a:rect r="r" b="b" t="t" l="l"/>
            <a:pathLst>
              <a:path h="6500551" w="4079096">
                <a:moveTo>
                  <a:pt x="4079096" y="6500551"/>
                </a:moveTo>
                <a:lnTo>
                  <a:pt x="0" y="6500551"/>
                </a:lnTo>
                <a:lnTo>
                  <a:pt x="0" y="0"/>
                </a:lnTo>
                <a:lnTo>
                  <a:pt x="4079096" y="0"/>
                </a:lnTo>
                <a:lnTo>
                  <a:pt x="4079096" y="6500551"/>
                </a:lnTo>
                <a:close/>
              </a:path>
            </a:pathLst>
          </a:custGeom>
          <a:blipFill>
            <a:blip r:embed="rId2"/>
            <a:stretch>
              <a:fillRect l="0" t="0" r="0" b="0"/>
            </a:stretch>
          </a:blipFill>
        </p:spPr>
      </p:sp>
      <p:grpSp>
        <p:nvGrpSpPr>
          <p:cNvPr name="Group 3" id="3"/>
          <p:cNvGrpSpPr/>
          <p:nvPr/>
        </p:nvGrpSpPr>
        <p:grpSpPr>
          <a:xfrm rot="0">
            <a:off x="-305797" y="9582402"/>
            <a:ext cx="18899594" cy="985414"/>
            <a:chOff x="0" y="0"/>
            <a:chExt cx="4977671" cy="259533"/>
          </a:xfrm>
        </p:grpSpPr>
        <p:sp>
          <p:nvSpPr>
            <p:cNvPr name="Freeform 4" id="4"/>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5" id="5"/>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08238" y="1483851"/>
            <a:ext cx="9471524"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TUJUAN</a:t>
            </a:r>
            <a:r>
              <a:rPr lang="en-US" sz="7299" b="true">
                <a:solidFill>
                  <a:srgbClr val="0E2F81"/>
                </a:solidFill>
                <a:latin typeface="Passion One Bold"/>
                <a:ea typeface="Passion One Bold"/>
                <a:cs typeface="Passion One Bold"/>
                <a:sym typeface="Passion One Bold"/>
              </a:rPr>
              <a:t> Q-LEARNING</a:t>
            </a:r>
          </a:p>
        </p:txBody>
      </p:sp>
      <p:sp>
        <p:nvSpPr>
          <p:cNvPr name="TextBox 7" id="7"/>
          <p:cNvSpPr txBox="true"/>
          <p:nvPr/>
        </p:nvSpPr>
        <p:spPr>
          <a:xfrm rot="0">
            <a:off x="4366214" y="3049695"/>
            <a:ext cx="9090832" cy="479107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000000"/>
                </a:solidFill>
                <a:latin typeface="Inter Semi-Bold"/>
                <a:ea typeface="Inter Semi-Bold"/>
                <a:cs typeface="Inter Semi-Bold"/>
                <a:sym typeface="Inter Semi-Bold"/>
              </a:rPr>
              <a:t>menemukan tindakan (action) terbaik  pada setiap kondisi (state)</a:t>
            </a:r>
          </a:p>
          <a:p>
            <a:pPr algn="just" marL="647700" indent="-323850" lvl="1">
              <a:lnSpc>
                <a:spcPts val="4200"/>
              </a:lnSpc>
              <a:buFont typeface="Arial"/>
              <a:buChar char="•"/>
            </a:pPr>
            <a:r>
              <a:rPr lang="en-US" b="true" sz="3000">
                <a:solidFill>
                  <a:srgbClr val="000000"/>
                </a:solidFill>
                <a:latin typeface="Inter Semi-Bold"/>
                <a:ea typeface="Inter Semi-Bold"/>
                <a:cs typeface="Inter Semi-Bold"/>
                <a:sym typeface="Inter Semi-Bold"/>
              </a:rPr>
              <a:t> memaksimalkan total reward jangka panjang</a:t>
            </a:r>
          </a:p>
          <a:p>
            <a:pPr algn="just" marL="647700" indent="-323850" lvl="1">
              <a:lnSpc>
                <a:spcPts val="4200"/>
              </a:lnSpc>
              <a:buFont typeface="Arial"/>
              <a:buChar char="•"/>
            </a:pPr>
            <a:r>
              <a:rPr lang="en-US" b="true" sz="3000">
                <a:solidFill>
                  <a:srgbClr val="000000"/>
                </a:solidFill>
                <a:latin typeface="Inter Semi-Bold"/>
                <a:ea typeface="Inter Semi-Bold"/>
                <a:cs typeface="Inter Semi-Bold"/>
                <a:sym typeface="Inter Semi-Bold"/>
              </a:rPr>
              <a:t>mempelajari nilai kualitas tindakan melalui pegalaman (trial-and-error)</a:t>
            </a:r>
          </a:p>
          <a:p>
            <a:pPr algn="just" marL="647700" indent="-323850" lvl="1">
              <a:lnSpc>
                <a:spcPts val="4200"/>
              </a:lnSpc>
              <a:buFont typeface="Arial"/>
              <a:buChar char="•"/>
            </a:pPr>
            <a:r>
              <a:rPr lang="en-US" b="true" sz="3000">
                <a:solidFill>
                  <a:srgbClr val="000000"/>
                </a:solidFill>
                <a:latin typeface="Inter Semi-Bold"/>
                <a:ea typeface="Inter Semi-Bold"/>
                <a:cs typeface="Inter Semi-Bold"/>
                <a:sym typeface="Inter Semi-Bold"/>
              </a:rPr>
              <a:t>menghasilkan strategi optimal tanpa mengetahui model lingkungan</a:t>
            </a:r>
          </a:p>
          <a:p>
            <a:pPr algn="just" marL="647700" indent="-323850" lvl="1">
              <a:lnSpc>
                <a:spcPts val="4200"/>
              </a:lnSpc>
              <a:buFont typeface="Arial"/>
              <a:buChar char="•"/>
            </a:pPr>
            <a:r>
              <a:rPr lang="en-US" b="true" sz="3000">
                <a:solidFill>
                  <a:srgbClr val="000000"/>
                </a:solidFill>
                <a:latin typeface="Inter Semi-Bold"/>
                <a:ea typeface="Inter Semi-Bold"/>
                <a:cs typeface="Inter Semi-Bold"/>
                <a:sym typeface="Inter Semi-Bold"/>
              </a:rPr>
              <a:t>membantu egen mengambil keputusan secara efisien dan konsisten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52610" y="5773218"/>
            <a:ext cx="311618" cy="467719"/>
          </a:xfrm>
          <a:custGeom>
            <a:avLst/>
            <a:gdLst/>
            <a:ahLst/>
            <a:cxnLst/>
            <a:rect r="r" b="b" t="t" l="l"/>
            <a:pathLst>
              <a:path h="467719" w="311618">
                <a:moveTo>
                  <a:pt x="0" y="0"/>
                </a:moveTo>
                <a:lnTo>
                  <a:pt x="311618" y="0"/>
                </a:lnTo>
                <a:lnTo>
                  <a:pt x="311618" y="467718"/>
                </a:lnTo>
                <a:lnTo>
                  <a:pt x="0" y="467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55161" y="7668321"/>
            <a:ext cx="311618" cy="467719"/>
          </a:xfrm>
          <a:custGeom>
            <a:avLst/>
            <a:gdLst/>
            <a:ahLst/>
            <a:cxnLst/>
            <a:rect r="r" b="b" t="t" l="l"/>
            <a:pathLst>
              <a:path h="467719" w="311618">
                <a:moveTo>
                  <a:pt x="0" y="0"/>
                </a:moveTo>
                <a:lnTo>
                  <a:pt x="311618" y="0"/>
                </a:lnTo>
                <a:lnTo>
                  <a:pt x="311618" y="467719"/>
                </a:lnTo>
                <a:lnTo>
                  <a:pt x="0" y="4677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45078" y="-735825"/>
            <a:ext cx="3086809" cy="3556573"/>
          </a:xfrm>
          <a:custGeom>
            <a:avLst/>
            <a:gdLst/>
            <a:ahLst/>
            <a:cxnLst/>
            <a:rect r="r" b="b" t="t" l="l"/>
            <a:pathLst>
              <a:path h="3556573" w="3086809">
                <a:moveTo>
                  <a:pt x="0" y="0"/>
                </a:moveTo>
                <a:lnTo>
                  <a:pt x="3086809" y="0"/>
                </a:lnTo>
                <a:lnTo>
                  <a:pt x="3086809" y="3556573"/>
                </a:lnTo>
                <a:lnTo>
                  <a:pt x="0" y="35565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514582" y="9529161"/>
            <a:ext cx="1800806" cy="757839"/>
          </a:xfrm>
          <a:custGeom>
            <a:avLst/>
            <a:gdLst/>
            <a:ahLst/>
            <a:cxnLst/>
            <a:rect r="r" b="b" t="t" l="l"/>
            <a:pathLst>
              <a:path h="757839" w="1800806">
                <a:moveTo>
                  <a:pt x="0" y="0"/>
                </a:moveTo>
                <a:lnTo>
                  <a:pt x="1800806" y="0"/>
                </a:lnTo>
                <a:lnTo>
                  <a:pt x="1800806" y="757839"/>
                </a:lnTo>
                <a:lnTo>
                  <a:pt x="0" y="7578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065973" y="9529161"/>
            <a:ext cx="1800806" cy="757839"/>
          </a:xfrm>
          <a:custGeom>
            <a:avLst/>
            <a:gdLst/>
            <a:ahLst/>
            <a:cxnLst/>
            <a:rect r="r" b="b" t="t" l="l"/>
            <a:pathLst>
              <a:path h="757839" w="1800806">
                <a:moveTo>
                  <a:pt x="0" y="0"/>
                </a:moveTo>
                <a:lnTo>
                  <a:pt x="1800806" y="0"/>
                </a:lnTo>
                <a:lnTo>
                  <a:pt x="1800806" y="757839"/>
                </a:lnTo>
                <a:lnTo>
                  <a:pt x="0" y="7578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3590429" y="4432947"/>
            <a:ext cx="12951087" cy="5475133"/>
            <a:chOff x="0" y="0"/>
            <a:chExt cx="1922628" cy="812800"/>
          </a:xfrm>
        </p:grpSpPr>
        <p:sp>
          <p:nvSpPr>
            <p:cNvPr name="Freeform 8" id="8"/>
            <p:cNvSpPr/>
            <p:nvPr/>
          </p:nvSpPr>
          <p:spPr>
            <a:xfrm flipH="false" flipV="false" rot="0">
              <a:off x="0" y="0"/>
              <a:ext cx="1922628" cy="812800"/>
            </a:xfrm>
            <a:custGeom>
              <a:avLst/>
              <a:gdLst/>
              <a:ahLst/>
              <a:cxnLst/>
              <a:rect r="r" b="b" t="t" l="l"/>
              <a:pathLst>
                <a:path h="812800" w="1922628">
                  <a:moveTo>
                    <a:pt x="0" y="0"/>
                  </a:moveTo>
                  <a:lnTo>
                    <a:pt x="1922628" y="0"/>
                  </a:lnTo>
                  <a:lnTo>
                    <a:pt x="1922628" y="812800"/>
                  </a:lnTo>
                  <a:lnTo>
                    <a:pt x="0" y="812800"/>
                  </a:lnTo>
                  <a:close/>
                </a:path>
              </a:pathLst>
            </a:custGeom>
            <a:blipFill>
              <a:blip r:embed="rId8"/>
              <a:stretch>
                <a:fillRect l="0" t="-19501" r="0" b="0"/>
              </a:stretch>
            </a:blipFill>
          </p:spPr>
        </p:sp>
      </p:grpSp>
      <p:sp>
        <p:nvSpPr>
          <p:cNvPr name="TextBox 9" id="9"/>
          <p:cNvSpPr txBox="true"/>
          <p:nvPr/>
        </p:nvSpPr>
        <p:spPr>
          <a:xfrm rot="0">
            <a:off x="4952282" y="518231"/>
            <a:ext cx="8925406" cy="1125714"/>
          </a:xfrm>
          <a:prstGeom prst="rect">
            <a:avLst/>
          </a:prstGeom>
        </p:spPr>
        <p:txBody>
          <a:bodyPr anchor="t" rtlCol="false" tIns="0" lIns="0" bIns="0" rIns="0">
            <a:spAutoFit/>
          </a:bodyPr>
          <a:lstStyle/>
          <a:p>
            <a:pPr algn="l">
              <a:lnSpc>
                <a:spcPts val="8599"/>
              </a:lnSpc>
            </a:pPr>
            <a:r>
              <a:rPr lang="en-US" sz="8112" b="true">
                <a:solidFill>
                  <a:srgbClr val="0E2F81"/>
                </a:solidFill>
                <a:latin typeface="Passion One Bold"/>
                <a:ea typeface="Passion One Bold"/>
                <a:cs typeface="Passion One Bold"/>
                <a:sym typeface="Passion One Bold"/>
              </a:rPr>
              <a:t>CONTOH SEDERHANA</a:t>
            </a:r>
          </a:p>
        </p:txBody>
      </p:sp>
      <p:sp>
        <p:nvSpPr>
          <p:cNvPr name="TextBox 10" id="10"/>
          <p:cNvSpPr txBox="true"/>
          <p:nvPr/>
        </p:nvSpPr>
        <p:spPr>
          <a:xfrm rot="0">
            <a:off x="3988105" y="2018997"/>
            <a:ext cx="11351743" cy="2230778"/>
          </a:xfrm>
          <a:prstGeom prst="rect">
            <a:avLst/>
          </a:prstGeom>
        </p:spPr>
        <p:txBody>
          <a:bodyPr anchor="t" rtlCol="false" tIns="0" lIns="0" bIns="0" rIns="0">
            <a:spAutoFit/>
          </a:bodyPr>
          <a:lstStyle/>
          <a:p>
            <a:pPr algn="just">
              <a:lnSpc>
                <a:spcPts val="3568"/>
              </a:lnSpc>
            </a:pPr>
            <a:r>
              <a:rPr lang="en-US" sz="2549">
                <a:solidFill>
                  <a:srgbClr val="000000"/>
                </a:solidFill>
                <a:latin typeface="Inter"/>
                <a:ea typeface="Inter"/>
                <a:cs typeface="Inter"/>
                <a:sym typeface="Inter"/>
              </a:rPr>
              <a:t>Misal ada sebuah sistem yang melihat sebuah apel tetapi salah berkata, "Itu ma</a:t>
            </a:r>
            <a:r>
              <a:rPr lang="en-US" sz="2549">
                <a:solidFill>
                  <a:srgbClr val="000000"/>
                </a:solidFill>
                <a:latin typeface="Inter"/>
                <a:ea typeface="Inter"/>
                <a:cs typeface="Inter"/>
                <a:sym typeface="Inter"/>
              </a:rPr>
              <a:t>ngga." Sistem tersebut diberi tahu, "Salah! Itu apel." Sistem tersebut belajar dari kesalahan sebelumnya. Saat ditunjukkan apel berikutnya, sistem tersebut dengan benar berkata, "Itu apel." Proses coba-coba dengan umpan balik ini mirip cara kerja Q-Learning.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2410"/>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187316" y="1377840"/>
            <a:ext cx="12520319" cy="1025148"/>
          </a:xfrm>
          <a:prstGeom prst="rect">
            <a:avLst/>
          </a:prstGeom>
        </p:spPr>
        <p:txBody>
          <a:bodyPr anchor="t" rtlCol="false" tIns="0" lIns="0" bIns="0" rIns="0">
            <a:spAutoFit/>
          </a:bodyPr>
          <a:lstStyle/>
          <a:p>
            <a:pPr algn="l">
              <a:lnSpc>
                <a:spcPts val="7738"/>
              </a:lnSpc>
            </a:pPr>
            <a:r>
              <a:rPr lang="en-US" sz="7300" b="true">
                <a:solidFill>
                  <a:srgbClr val="000000"/>
                </a:solidFill>
                <a:latin typeface="Passion One Bold"/>
                <a:ea typeface="Passion One Bold"/>
                <a:cs typeface="Passion One Bold"/>
                <a:sym typeface="Passion One Bold"/>
              </a:rPr>
              <a:t>KOMPON</a:t>
            </a:r>
            <a:r>
              <a:rPr lang="en-US" b="true" sz="7300">
                <a:solidFill>
                  <a:srgbClr val="000000"/>
                </a:solidFill>
                <a:latin typeface="Passion One Bold"/>
                <a:ea typeface="Passion One Bold"/>
                <a:cs typeface="Passion One Bold"/>
                <a:sym typeface="Passion One Bold"/>
              </a:rPr>
              <a:t>EN</a:t>
            </a:r>
            <a:r>
              <a:rPr lang="en-US" b="true" sz="7300">
                <a:solidFill>
                  <a:srgbClr val="000000"/>
                </a:solidFill>
                <a:latin typeface="Passion One Bold"/>
                <a:ea typeface="Passion One Bold"/>
                <a:cs typeface="Passion One Bold"/>
                <a:sym typeface="Passion One Bold"/>
              </a:rPr>
              <a:t>  UTAMA </a:t>
            </a:r>
            <a:r>
              <a:rPr lang="en-US" sz="7300" b="true">
                <a:solidFill>
                  <a:srgbClr val="0E2F81"/>
                </a:solidFill>
                <a:latin typeface="Passion One Bold"/>
                <a:ea typeface="Passion One Bold"/>
                <a:cs typeface="Passion One Bold"/>
                <a:sym typeface="Passion One Bold"/>
              </a:rPr>
              <a:t>Q-LEARNING</a:t>
            </a:r>
          </a:p>
        </p:txBody>
      </p:sp>
      <p:sp>
        <p:nvSpPr>
          <p:cNvPr name="TextBox 7" id="7"/>
          <p:cNvSpPr txBox="true"/>
          <p:nvPr/>
        </p:nvSpPr>
        <p:spPr>
          <a:xfrm rot="0">
            <a:off x="1935887" y="2565283"/>
            <a:ext cx="15023176" cy="5706066"/>
          </a:xfrm>
          <a:prstGeom prst="rect">
            <a:avLst/>
          </a:prstGeom>
        </p:spPr>
        <p:txBody>
          <a:bodyPr anchor="t" rtlCol="false" tIns="0" lIns="0" bIns="0" rIns="0">
            <a:spAutoFit/>
          </a:bodyPr>
          <a:lstStyle/>
          <a:p>
            <a:pPr algn="just">
              <a:lnSpc>
                <a:spcPts val="3852"/>
              </a:lnSpc>
            </a:pPr>
            <a:r>
              <a:rPr lang="en-US" sz="2751">
                <a:solidFill>
                  <a:srgbClr val="000000"/>
                </a:solidFill>
                <a:latin typeface="Inter"/>
                <a:ea typeface="Inter"/>
                <a:cs typeface="Inter"/>
                <a:sym typeface="Inter"/>
              </a:rPr>
              <a:t>1. State (S) – Kondisi yang Sedang Terjadi</a:t>
            </a:r>
          </a:p>
          <a:p>
            <a:pPr algn="just">
              <a:lnSpc>
                <a:spcPts val="3852"/>
              </a:lnSpc>
            </a:pPr>
            <a:r>
              <a:rPr lang="en-US" sz="2751">
                <a:solidFill>
                  <a:srgbClr val="000000"/>
                </a:solidFill>
                <a:latin typeface="Inter"/>
                <a:ea typeface="Inter"/>
                <a:cs typeface="Inter"/>
                <a:sym typeface="Inter"/>
              </a:rPr>
              <a:t>State adalah gambaran kondisi atau situasi yang sedang berlangsung pada saat tertentu. State berisi informasi penting mengenai lingkungan yang menjadi dasar dalam menentukan langkah atau keputusan selanjutnya. Setiap proses pengambilan keputusan dalam Q-Learning selalu dimulai dari state yang sedang dihadapi.</a:t>
            </a:r>
          </a:p>
          <a:p>
            <a:pPr algn="just">
              <a:lnSpc>
                <a:spcPts val="3432"/>
              </a:lnSpc>
            </a:pPr>
          </a:p>
          <a:p>
            <a:pPr algn="just">
              <a:lnSpc>
                <a:spcPts val="3852"/>
              </a:lnSpc>
            </a:pPr>
            <a:r>
              <a:rPr lang="en-US" sz="2751">
                <a:solidFill>
                  <a:srgbClr val="000000"/>
                </a:solidFill>
                <a:latin typeface="Inter"/>
                <a:ea typeface="Inter"/>
                <a:cs typeface="Inter"/>
                <a:sym typeface="Inter"/>
              </a:rPr>
              <a:t>2. Action (A) – Tindakan yang Dapat Dilakukan</a:t>
            </a:r>
          </a:p>
          <a:p>
            <a:pPr algn="just">
              <a:lnSpc>
                <a:spcPts val="3852"/>
              </a:lnSpc>
            </a:pPr>
            <a:r>
              <a:rPr lang="en-US" sz="2751">
                <a:solidFill>
                  <a:srgbClr val="000000"/>
                </a:solidFill>
                <a:latin typeface="Inter"/>
                <a:ea typeface="Inter"/>
                <a:cs typeface="Inter"/>
                <a:sym typeface="Inter"/>
              </a:rPr>
              <a:t>Action adalah pilihan tindakan atau langkah yang dapat dilakukan pada suatu state tertentu. Tindakan ini menentukan bagaimana proses pembelajaran akan bergerak dari satu kondisi ke kondisi berikutnya. Pemilihan tindakan berpengaruh langsung pada perubahan state dan reward yang diperoleh.</a:t>
            </a:r>
          </a:p>
          <a:p>
            <a:pPr algn="just">
              <a:lnSpc>
                <a:spcPts val="3432"/>
              </a:lnSpc>
            </a:pPr>
          </a:p>
        </p:txBody>
      </p:sp>
      <p:grpSp>
        <p:nvGrpSpPr>
          <p:cNvPr name="Group 8" id="8"/>
          <p:cNvGrpSpPr/>
          <p:nvPr/>
        </p:nvGrpSpPr>
        <p:grpSpPr>
          <a:xfrm rot="0">
            <a:off x="-153397" y="9734802"/>
            <a:ext cx="18899594" cy="985414"/>
            <a:chOff x="0" y="0"/>
            <a:chExt cx="4977671" cy="259533"/>
          </a:xfrm>
        </p:grpSpPr>
        <p:sp>
          <p:nvSpPr>
            <p:cNvPr name="Freeform 9" id="9"/>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10" id="10"/>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97" y="-596087"/>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68028" y="1254163"/>
            <a:ext cx="12607754" cy="1025144"/>
          </a:xfrm>
          <a:prstGeom prst="rect">
            <a:avLst/>
          </a:prstGeom>
        </p:spPr>
        <p:txBody>
          <a:bodyPr anchor="t" rtlCol="false" tIns="0" lIns="0" bIns="0" rIns="0">
            <a:spAutoFit/>
          </a:bodyPr>
          <a:lstStyle/>
          <a:p>
            <a:pPr algn="just">
              <a:lnSpc>
                <a:spcPts val="7737"/>
              </a:lnSpc>
            </a:pPr>
            <a:r>
              <a:rPr lang="en-US" b="true" sz="7299">
                <a:solidFill>
                  <a:srgbClr val="000000"/>
                </a:solidFill>
                <a:latin typeface="Passion One Bold"/>
                <a:ea typeface="Passion One Bold"/>
                <a:cs typeface="Passion One Bold"/>
                <a:sym typeface="Passion One Bold"/>
              </a:rPr>
              <a:t>KOMPON</a:t>
            </a:r>
            <a:r>
              <a:rPr lang="en-US" b="true" sz="7299">
                <a:solidFill>
                  <a:srgbClr val="000000"/>
                </a:solidFill>
                <a:latin typeface="Passion One Bold"/>
                <a:ea typeface="Passion One Bold"/>
                <a:cs typeface="Passion One Bold"/>
                <a:sym typeface="Passion One Bold"/>
              </a:rPr>
              <a:t>EN</a:t>
            </a:r>
            <a:r>
              <a:rPr lang="en-US" b="true" sz="7299">
                <a:solidFill>
                  <a:srgbClr val="000000"/>
                </a:solidFill>
                <a:latin typeface="Passion One Bold"/>
                <a:ea typeface="Passion One Bold"/>
                <a:cs typeface="Passion One Bold"/>
                <a:sym typeface="Passion One Bold"/>
              </a:rPr>
              <a:t> UTAMA </a:t>
            </a:r>
            <a:r>
              <a:rPr lang="en-US" b="true" sz="7299">
                <a:solidFill>
                  <a:srgbClr val="0E2F81"/>
                </a:solidFill>
                <a:latin typeface="Passion One Bold"/>
                <a:ea typeface="Passion One Bold"/>
                <a:cs typeface="Passion One Bold"/>
                <a:sym typeface="Passion One Bold"/>
              </a:rPr>
              <a:t>Q</a:t>
            </a:r>
            <a:r>
              <a:rPr lang="en-US" b="true" sz="7299">
                <a:solidFill>
                  <a:srgbClr val="0E2F81"/>
                </a:solidFill>
                <a:latin typeface="Passion One Bold"/>
                <a:ea typeface="Passion One Bold"/>
                <a:cs typeface="Passion One Bold"/>
                <a:sym typeface="Passion One Bold"/>
              </a:rPr>
              <a:t>-LEARNING</a:t>
            </a:r>
          </a:p>
        </p:txBody>
      </p:sp>
      <p:sp>
        <p:nvSpPr>
          <p:cNvPr name="TextBox 7" id="7"/>
          <p:cNvSpPr txBox="true"/>
          <p:nvPr/>
        </p:nvSpPr>
        <p:spPr>
          <a:xfrm rot="0">
            <a:off x="1832978" y="2696158"/>
            <a:ext cx="15477854" cy="5706066"/>
          </a:xfrm>
          <a:prstGeom prst="rect">
            <a:avLst/>
          </a:prstGeom>
        </p:spPr>
        <p:txBody>
          <a:bodyPr anchor="t" rtlCol="false" tIns="0" lIns="0" bIns="0" rIns="0">
            <a:spAutoFit/>
          </a:bodyPr>
          <a:lstStyle/>
          <a:p>
            <a:pPr algn="just">
              <a:lnSpc>
                <a:spcPts val="3852"/>
              </a:lnSpc>
            </a:pPr>
            <a:r>
              <a:rPr lang="en-US" sz="2751">
                <a:solidFill>
                  <a:srgbClr val="000000"/>
                </a:solidFill>
                <a:latin typeface="Inter"/>
                <a:ea typeface="Inter"/>
                <a:cs typeface="Inter"/>
                <a:sym typeface="Inter"/>
              </a:rPr>
              <a:t>3. Reward (R) – Umpan Balik dari Lingkungan</a:t>
            </a:r>
          </a:p>
          <a:p>
            <a:pPr algn="just">
              <a:lnSpc>
                <a:spcPts val="3852"/>
              </a:lnSpc>
            </a:pPr>
            <a:r>
              <a:rPr lang="en-US" sz="2751">
                <a:solidFill>
                  <a:srgbClr val="000000"/>
                </a:solidFill>
                <a:latin typeface="Inter"/>
                <a:ea typeface="Inter"/>
                <a:cs typeface="Inter"/>
                <a:sym typeface="Inter"/>
              </a:rPr>
              <a:t>Reward merupakan nilai yang diberikan oleh lingkungan sebagai respon dari tindakan tertentu. Reward berfungsi sebagai penanda apakah suatu tindakan memberikan dampak positif atau negatif. Nilai inilah yang digunakan untuk memperbarui Q-Value sehingga proses  dapat berlangsung secara bertahap menuju hasil optimal.</a:t>
            </a:r>
          </a:p>
          <a:p>
            <a:pPr algn="just">
              <a:lnSpc>
                <a:spcPts val="3432"/>
              </a:lnSpc>
            </a:pPr>
          </a:p>
          <a:p>
            <a:pPr algn="just">
              <a:lnSpc>
                <a:spcPts val="3852"/>
              </a:lnSpc>
            </a:pPr>
            <a:r>
              <a:rPr lang="en-US" sz="2751">
                <a:solidFill>
                  <a:srgbClr val="000000"/>
                </a:solidFill>
                <a:latin typeface="Inter"/>
                <a:ea typeface="Inter"/>
                <a:cs typeface="Inter"/>
                <a:sym typeface="Inter"/>
              </a:rPr>
              <a:t>4. Policy (π) – Aturan dalam Memilih Tindakan</a:t>
            </a:r>
          </a:p>
          <a:p>
            <a:pPr algn="just">
              <a:lnSpc>
                <a:spcPts val="3852"/>
              </a:lnSpc>
            </a:pPr>
            <a:r>
              <a:rPr lang="en-US" sz="2751">
                <a:solidFill>
                  <a:srgbClr val="000000"/>
                </a:solidFill>
                <a:latin typeface="Inter"/>
                <a:ea typeface="Inter"/>
                <a:cs typeface="Inter"/>
                <a:sym typeface="Inter"/>
              </a:rPr>
              <a:t>Policy adalah aturan atau strategi yang digunakan untuk menentukan tindakan mana yang harus dipilih pada kondisi tertentu. Policy mengatur keseimbangan antara mencoba tindakan baru (exploration) dan menggunakan tindakan yang sudah diketahui memberikan hasil baik (exploitation).</a:t>
            </a:r>
          </a:p>
          <a:p>
            <a:pPr algn="just">
              <a:lnSpc>
                <a:spcPts val="3432"/>
              </a:lnSpc>
            </a:pPr>
          </a:p>
        </p:txBody>
      </p:sp>
      <p:grpSp>
        <p:nvGrpSpPr>
          <p:cNvPr name="Group 8" id="8"/>
          <p:cNvGrpSpPr/>
          <p:nvPr/>
        </p:nvGrpSpPr>
        <p:grpSpPr>
          <a:xfrm rot="0">
            <a:off x="-153397" y="9734802"/>
            <a:ext cx="18899594" cy="985414"/>
            <a:chOff x="0" y="0"/>
            <a:chExt cx="4977671" cy="259533"/>
          </a:xfrm>
        </p:grpSpPr>
        <p:sp>
          <p:nvSpPr>
            <p:cNvPr name="Freeform 9" id="9"/>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10" id="10"/>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57664"/>
            <a:ext cx="3062921" cy="3529049"/>
          </a:xfrm>
          <a:custGeom>
            <a:avLst/>
            <a:gdLst/>
            <a:ahLst/>
            <a:cxnLst/>
            <a:rect r="r" b="b" t="t" l="l"/>
            <a:pathLst>
              <a:path h="3529049" w="3062921">
                <a:moveTo>
                  <a:pt x="0" y="0"/>
                </a:moveTo>
                <a:lnTo>
                  <a:pt x="3062921" y="0"/>
                </a:lnTo>
                <a:lnTo>
                  <a:pt x="3062921" y="3529050"/>
                </a:lnTo>
                <a:lnTo>
                  <a:pt x="0" y="3529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062921" y="1661006"/>
            <a:ext cx="12818682" cy="1025144"/>
          </a:xfrm>
          <a:prstGeom prst="rect">
            <a:avLst/>
          </a:prstGeom>
        </p:spPr>
        <p:txBody>
          <a:bodyPr anchor="t" rtlCol="false" tIns="0" lIns="0" bIns="0" rIns="0">
            <a:spAutoFit/>
          </a:bodyPr>
          <a:lstStyle/>
          <a:p>
            <a:pPr algn="just">
              <a:lnSpc>
                <a:spcPts val="7737"/>
              </a:lnSpc>
            </a:pPr>
            <a:r>
              <a:rPr lang="en-US" b="true" sz="7299">
                <a:solidFill>
                  <a:srgbClr val="000000"/>
                </a:solidFill>
                <a:latin typeface="Passion One Bold"/>
                <a:ea typeface="Passion One Bold"/>
                <a:cs typeface="Passion One Bold"/>
                <a:sym typeface="Passion One Bold"/>
              </a:rPr>
              <a:t>KOMPON</a:t>
            </a:r>
            <a:r>
              <a:rPr lang="en-US" b="true" sz="7299">
                <a:solidFill>
                  <a:srgbClr val="000000"/>
                </a:solidFill>
                <a:latin typeface="Passion One Bold"/>
                <a:ea typeface="Passion One Bold"/>
                <a:cs typeface="Passion One Bold"/>
                <a:sym typeface="Passion One Bold"/>
              </a:rPr>
              <a:t>EN</a:t>
            </a:r>
            <a:r>
              <a:rPr lang="en-US" b="true" sz="7299">
                <a:solidFill>
                  <a:srgbClr val="000000"/>
                </a:solidFill>
                <a:latin typeface="Passion One Bold"/>
                <a:ea typeface="Passion One Bold"/>
                <a:cs typeface="Passion One Bold"/>
                <a:sym typeface="Passion One Bold"/>
              </a:rPr>
              <a:t> UTAMA </a:t>
            </a:r>
            <a:r>
              <a:rPr lang="en-US" b="true" sz="7299">
                <a:solidFill>
                  <a:srgbClr val="0E2F81"/>
                </a:solidFill>
                <a:latin typeface="Passion One Bold"/>
                <a:ea typeface="Passion One Bold"/>
                <a:cs typeface="Passion One Bold"/>
                <a:sym typeface="Passion One Bold"/>
              </a:rPr>
              <a:t>Q-LEARNING</a:t>
            </a:r>
          </a:p>
        </p:txBody>
      </p:sp>
      <p:sp>
        <p:nvSpPr>
          <p:cNvPr name="TextBox 7" id="7"/>
          <p:cNvSpPr txBox="true"/>
          <p:nvPr/>
        </p:nvSpPr>
        <p:spPr>
          <a:xfrm rot="0">
            <a:off x="2622379" y="3421263"/>
            <a:ext cx="13348042" cy="3984581"/>
          </a:xfrm>
          <a:prstGeom prst="rect">
            <a:avLst/>
          </a:prstGeom>
        </p:spPr>
        <p:txBody>
          <a:bodyPr anchor="t" rtlCol="false" tIns="0" lIns="0" bIns="0" rIns="0">
            <a:spAutoFit/>
          </a:bodyPr>
          <a:lstStyle/>
          <a:p>
            <a:pPr algn="just">
              <a:lnSpc>
                <a:spcPts val="4552"/>
              </a:lnSpc>
            </a:pPr>
            <a:r>
              <a:rPr lang="en-US" sz="3251">
                <a:solidFill>
                  <a:srgbClr val="000000"/>
                </a:solidFill>
                <a:latin typeface="Inter"/>
                <a:ea typeface="Inter"/>
                <a:cs typeface="Inter"/>
                <a:sym typeface="Inter"/>
              </a:rPr>
              <a:t>5. Q-Value – Nilai yang Menggambarkan Kualitas Tindakan</a:t>
            </a:r>
          </a:p>
          <a:p>
            <a:pPr algn="just">
              <a:lnSpc>
                <a:spcPts val="4552"/>
              </a:lnSpc>
            </a:pPr>
            <a:r>
              <a:rPr lang="en-US" sz="3251">
                <a:solidFill>
                  <a:srgbClr val="000000"/>
                </a:solidFill>
                <a:latin typeface="Inter"/>
                <a:ea typeface="Inter"/>
                <a:cs typeface="Inter"/>
                <a:sym typeface="Inter"/>
              </a:rPr>
              <a:t>Q-Valu</a:t>
            </a:r>
            <a:r>
              <a:rPr lang="en-US" sz="3251">
                <a:solidFill>
                  <a:srgbClr val="000000"/>
                </a:solidFill>
                <a:latin typeface="Inter"/>
                <a:ea typeface="Inter"/>
                <a:cs typeface="Inter"/>
                <a:sym typeface="Inter"/>
              </a:rPr>
              <a:t>e adalah nilai yang menunjukkan seberapa baik atau menguntungkan suatu tindakan pada state tertentu dalam jangka panjang. Nilai ini diperbarui secara berkala dengan mempertimbangkan reward yang diterima serta prediksi nilai terbaik pada state berikutnya.</a:t>
            </a:r>
          </a:p>
          <a:p>
            <a:pPr algn="just">
              <a:lnSpc>
                <a:spcPts val="4552"/>
              </a:lnSpc>
            </a:pPr>
          </a:p>
        </p:txBody>
      </p:sp>
      <p:grpSp>
        <p:nvGrpSpPr>
          <p:cNvPr name="Group 8" id="8"/>
          <p:cNvGrpSpPr/>
          <p:nvPr/>
        </p:nvGrpSpPr>
        <p:grpSpPr>
          <a:xfrm rot="0">
            <a:off x="-153397" y="9734802"/>
            <a:ext cx="18899594" cy="985414"/>
            <a:chOff x="0" y="0"/>
            <a:chExt cx="4977671" cy="259533"/>
          </a:xfrm>
        </p:grpSpPr>
        <p:sp>
          <p:nvSpPr>
            <p:cNvPr name="Freeform 9" id="9"/>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10" id="10"/>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28013" y="1385092"/>
            <a:ext cx="9959800" cy="1025144"/>
          </a:xfrm>
          <a:prstGeom prst="rect">
            <a:avLst/>
          </a:prstGeom>
        </p:spPr>
        <p:txBody>
          <a:bodyPr anchor="t" rtlCol="false" tIns="0" lIns="0" bIns="0" rIns="0">
            <a:spAutoFit/>
          </a:bodyPr>
          <a:lstStyle/>
          <a:p>
            <a:pPr algn="just">
              <a:lnSpc>
                <a:spcPts val="7737"/>
              </a:lnSpc>
            </a:pPr>
            <a:r>
              <a:rPr lang="en-US" b="true" sz="7299">
                <a:solidFill>
                  <a:srgbClr val="000000"/>
                </a:solidFill>
                <a:latin typeface="Passion One Bold"/>
                <a:ea typeface="Passion One Bold"/>
                <a:cs typeface="Passion One Bold"/>
                <a:sym typeface="Passion One Bold"/>
              </a:rPr>
              <a:t>RUMUS</a:t>
            </a:r>
            <a:r>
              <a:rPr lang="en-US" b="true" sz="7299">
                <a:solidFill>
                  <a:srgbClr val="0E2F81"/>
                </a:solidFill>
                <a:latin typeface="Passion One Bold"/>
                <a:ea typeface="Passion One Bold"/>
                <a:cs typeface="Passion One Bold"/>
                <a:sym typeface="Passion One Bold"/>
              </a:rPr>
              <a:t> Q-LEARNING</a:t>
            </a:r>
          </a:p>
        </p:txBody>
      </p:sp>
      <p:sp>
        <p:nvSpPr>
          <p:cNvPr name="TextBox 3" id="3"/>
          <p:cNvSpPr txBox="true"/>
          <p:nvPr/>
        </p:nvSpPr>
        <p:spPr>
          <a:xfrm rot="0">
            <a:off x="3154778" y="2807346"/>
            <a:ext cx="12283245" cy="5167281"/>
          </a:xfrm>
          <a:prstGeom prst="rect">
            <a:avLst/>
          </a:prstGeom>
        </p:spPr>
        <p:txBody>
          <a:bodyPr anchor="t" rtlCol="false" tIns="0" lIns="0" bIns="0" rIns="0">
            <a:spAutoFit/>
          </a:bodyPr>
          <a:lstStyle/>
          <a:p>
            <a:pPr algn="just">
              <a:lnSpc>
                <a:spcPts val="4504"/>
              </a:lnSpc>
            </a:pPr>
            <a:r>
              <a:rPr lang="en-US" sz="3217" b="true">
                <a:solidFill>
                  <a:srgbClr val="000000"/>
                </a:solidFill>
                <a:latin typeface="Inter Semi-Bold"/>
                <a:ea typeface="Inter Semi-Bold"/>
                <a:cs typeface="Inter Semi-Bold"/>
                <a:sym typeface="Inter Semi-Bold"/>
              </a:rPr>
              <a:t>Q(s, a) = Q(s, a) + α [ r + γ max Q(s’, a’) − Q(s, a) ]</a:t>
            </a:r>
          </a:p>
          <a:p>
            <a:pPr algn="just">
              <a:lnSpc>
                <a:spcPts val="4504"/>
              </a:lnSpc>
            </a:pPr>
          </a:p>
          <a:p>
            <a:pPr algn="just">
              <a:lnSpc>
                <a:spcPts val="4504"/>
              </a:lnSpc>
            </a:pPr>
            <a:r>
              <a:rPr lang="en-US" sz="3217" b="true">
                <a:solidFill>
                  <a:srgbClr val="000000"/>
                </a:solidFill>
                <a:latin typeface="Inter Semi-Bold"/>
                <a:ea typeface="Inter Semi-Bold"/>
                <a:cs typeface="Inter Semi-Bold"/>
                <a:sym typeface="Inter Semi-Bold"/>
              </a:rPr>
              <a:t>Keterangan:</a:t>
            </a:r>
          </a:p>
          <a:p>
            <a:pPr algn="just" marL="694613" indent="-347307" lvl="1">
              <a:lnSpc>
                <a:spcPts val="4504"/>
              </a:lnSpc>
              <a:buFont typeface="Arial"/>
              <a:buChar char="•"/>
            </a:pPr>
            <a:r>
              <a:rPr lang="en-US" b="true" sz="3217">
                <a:solidFill>
                  <a:srgbClr val="000000"/>
                </a:solidFill>
                <a:latin typeface="Inter Semi-Bold"/>
                <a:ea typeface="Inter Semi-Bold"/>
                <a:cs typeface="Inter Semi-Bold"/>
                <a:sym typeface="Inter Semi-Bold"/>
              </a:rPr>
              <a:t>α (learning rate): seberap</a:t>
            </a:r>
            <a:r>
              <a:rPr lang="en-US" b="true" sz="3217">
                <a:solidFill>
                  <a:srgbClr val="000000"/>
                </a:solidFill>
                <a:latin typeface="Inter Semi-Bold"/>
                <a:ea typeface="Inter Semi-Bold"/>
                <a:cs typeface="Inter Semi-Bold"/>
                <a:sym typeface="Inter Semi-Bold"/>
              </a:rPr>
              <a:t>a cepat agen belajar</a:t>
            </a:r>
          </a:p>
          <a:p>
            <a:pPr algn="just" marL="694613" indent="-347307" lvl="1">
              <a:lnSpc>
                <a:spcPts val="4504"/>
              </a:lnSpc>
              <a:buFont typeface="Arial"/>
              <a:buChar char="•"/>
            </a:pPr>
            <a:r>
              <a:rPr lang="en-US" b="true" sz="3217">
                <a:solidFill>
                  <a:srgbClr val="000000"/>
                </a:solidFill>
                <a:latin typeface="Inter Semi-Bold"/>
                <a:ea typeface="Inter Semi-Bold"/>
                <a:cs typeface="Inter Semi-Bold"/>
                <a:sym typeface="Inter Semi-Bold"/>
              </a:rPr>
              <a:t>γ (discount factor): seberapa peduli agen pada reward masa depan</a:t>
            </a:r>
          </a:p>
          <a:p>
            <a:pPr algn="just" marL="694613" indent="-347307" lvl="1">
              <a:lnSpc>
                <a:spcPts val="4504"/>
              </a:lnSpc>
              <a:buFont typeface="Arial"/>
              <a:buChar char="•"/>
            </a:pPr>
            <a:r>
              <a:rPr lang="en-US" b="true" sz="3217">
                <a:solidFill>
                  <a:srgbClr val="000000"/>
                </a:solidFill>
                <a:latin typeface="Inter Semi-Bold"/>
                <a:ea typeface="Inter Semi-Bold"/>
                <a:cs typeface="Inter Semi-Bold"/>
                <a:sym typeface="Inter Semi-Bold"/>
              </a:rPr>
              <a:t>r: reward yang diterima</a:t>
            </a:r>
          </a:p>
          <a:p>
            <a:pPr algn="just" marL="694613" indent="-347307" lvl="1">
              <a:lnSpc>
                <a:spcPts val="4504"/>
              </a:lnSpc>
              <a:buFont typeface="Arial"/>
              <a:buChar char="•"/>
            </a:pPr>
            <a:r>
              <a:rPr lang="en-US" b="true" sz="3217">
                <a:solidFill>
                  <a:srgbClr val="000000"/>
                </a:solidFill>
                <a:latin typeface="Inter Semi-Bold"/>
                <a:ea typeface="Inter Semi-Bold"/>
                <a:cs typeface="Inter Semi-Bold"/>
                <a:sym typeface="Inter Semi-Bold"/>
              </a:rPr>
              <a:t>s’: state berikutnya</a:t>
            </a:r>
          </a:p>
          <a:p>
            <a:pPr algn="just">
              <a:lnSpc>
                <a:spcPts val="4504"/>
              </a:lnSpc>
            </a:pPr>
          </a:p>
        </p:txBody>
      </p:sp>
      <p:sp>
        <p:nvSpPr>
          <p:cNvPr name="Freeform 4" id="4"/>
          <p:cNvSpPr/>
          <p:nvPr/>
        </p:nvSpPr>
        <p:spPr>
          <a:xfrm flipH="false" flipV="true" rot="0">
            <a:off x="-174881" y="-135264"/>
            <a:ext cx="6592352" cy="3980133"/>
          </a:xfrm>
          <a:custGeom>
            <a:avLst/>
            <a:gdLst/>
            <a:ahLst/>
            <a:cxnLst/>
            <a:rect r="r" b="b" t="t" l="l"/>
            <a:pathLst>
              <a:path h="3980133" w="6592352">
                <a:moveTo>
                  <a:pt x="0" y="3980132"/>
                </a:moveTo>
                <a:lnTo>
                  <a:pt x="6592352" y="3980132"/>
                </a:lnTo>
                <a:lnTo>
                  <a:pt x="6592352" y="0"/>
                </a:lnTo>
                <a:lnTo>
                  <a:pt x="0" y="0"/>
                </a:lnTo>
                <a:lnTo>
                  <a:pt x="0" y="3980132"/>
                </a:lnTo>
                <a:close/>
              </a:path>
            </a:pathLst>
          </a:custGeom>
          <a:blipFill>
            <a:blip r:embed="rId2"/>
            <a:stretch>
              <a:fillRect l="0" t="0" r="0" b="0"/>
            </a:stretch>
          </a:blipFill>
        </p:spPr>
      </p:sp>
      <p:grpSp>
        <p:nvGrpSpPr>
          <p:cNvPr name="Group 5" id="5"/>
          <p:cNvGrpSpPr/>
          <p:nvPr/>
        </p:nvGrpSpPr>
        <p:grpSpPr>
          <a:xfrm rot="0">
            <a:off x="-153397" y="9734802"/>
            <a:ext cx="18899594" cy="985414"/>
            <a:chOff x="0" y="0"/>
            <a:chExt cx="4977671" cy="259533"/>
          </a:xfrm>
        </p:grpSpPr>
        <p:sp>
          <p:nvSpPr>
            <p:cNvPr name="Freeform 6" id="6"/>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7" id="7"/>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71099" y="1887249"/>
            <a:ext cx="12209530"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ALUR KERJA</a:t>
            </a:r>
            <a:r>
              <a:rPr lang="en-US" sz="7299" b="true">
                <a:solidFill>
                  <a:srgbClr val="0E2F81"/>
                </a:solidFill>
                <a:latin typeface="Passion One Bold"/>
                <a:ea typeface="Passion One Bold"/>
                <a:cs typeface="Passion One Bold"/>
                <a:sym typeface="Passion One Bold"/>
              </a:rPr>
              <a:t> Q-LEARNING</a:t>
            </a:r>
          </a:p>
        </p:txBody>
      </p:sp>
      <p:sp>
        <p:nvSpPr>
          <p:cNvPr name="TextBox 3" id="3"/>
          <p:cNvSpPr txBox="true"/>
          <p:nvPr/>
        </p:nvSpPr>
        <p:spPr>
          <a:xfrm rot="0">
            <a:off x="2775710" y="3192570"/>
            <a:ext cx="12011907" cy="4385971"/>
          </a:xfrm>
          <a:prstGeom prst="rect">
            <a:avLst/>
          </a:prstGeom>
        </p:spPr>
        <p:txBody>
          <a:bodyPr anchor="t" rtlCol="false" tIns="0" lIns="0" bIns="0" rIns="0">
            <a:spAutoFit/>
          </a:bodyPr>
          <a:lstStyle/>
          <a:p>
            <a:pPr algn="just">
              <a:lnSpc>
                <a:spcPts val="5003"/>
              </a:lnSpc>
            </a:pPr>
            <a:r>
              <a:rPr lang="en-US" sz="3573">
                <a:solidFill>
                  <a:srgbClr val="000000"/>
                </a:solidFill>
                <a:latin typeface="Inter"/>
                <a:ea typeface="Inter"/>
                <a:cs typeface="Inter"/>
                <a:sym typeface="Inter"/>
              </a:rPr>
              <a:t>Proses Q-Learning dimulai dengan menginisialisasi Q-Table, kemudian memilih tindakan melalui exploration atau exploitation. Setelah tindakan dilakukan, lingkungan memberikan reward dan proses berpindah ke state baru. Nilai Q diperbarui menggunakan rumus Q-Learning, dan langkah-langkah ini diulangi hingga nilai Q stabil.</a:t>
            </a:r>
          </a:p>
        </p:txBody>
      </p:sp>
      <p:sp>
        <p:nvSpPr>
          <p:cNvPr name="Freeform 4" id="4"/>
          <p:cNvSpPr/>
          <p:nvPr/>
        </p:nvSpPr>
        <p:spPr>
          <a:xfrm flipH="true" flipV="true" rot="0">
            <a:off x="14787617" y="18494"/>
            <a:ext cx="4079096" cy="6500551"/>
          </a:xfrm>
          <a:custGeom>
            <a:avLst/>
            <a:gdLst/>
            <a:ahLst/>
            <a:cxnLst/>
            <a:rect r="r" b="b" t="t" l="l"/>
            <a:pathLst>
              <a:path h="6500551" w="4079096">
                <a:moveTo>
                  <a:pt x="4079096" y="6500551"/>
                </a:moveTo>
                <a:lnTo>
                  <a:pt x="0" y="6500551"/>
                </a:lnTo>
                <a:lnTo>
                  <a:pt x="0" y="0"/>
                </a:lnTo>
                <a:lnTo>
                  <a:pt x="4079096" y="0"/>
                </a:lnTo>
                <a:lnTo>
                  <a:pt x="4079096" y="6500551"/>
                </a:lnTo>
                <a:close/>
              </a:path>
            </a:pathLst>
          </a:custGeom>
          <a:blipFill>
            <a:blip r:embed="rId2"/>
            <a:stretch>
              <a:fillRect l="0" t="0" r="0" b="0"/>
            </a:stretch>
          </a:blipFill>
        </p:spPr>
      </p:sp>
      <p:grpSp>
        <p:nvGrpSpPr>
          <p:cNvPr name="Group 5" id="5"/>
          <p:cNvGrpSpPr/>
          <p:nvPr/>
        </p:nvGrpSpPr>
        <p:grpSpPr>
          <a:xfrm rot="0">
            <a:off x="-153397" y="9734802"/>
            <a:ext cx="18899594" cy="985414"/>
            <a:chOff x="0" y="0"/>
            <a:chExt cx="4977671" cy="259533"/>
          </a:xfrm>
        </p:grpSpPr>
        <p:sp>
          <p:nvSpPr>
            <p:cNvPr name="Freeform 6" id="6"/>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7" id="7"/>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5797" y="9582402"/>
            <a:ext cx="18899594" cy="985414"/>
            <a:chOff x="0" y="0"/>
            <a:chExt cx="4977671" cy="259533"/>
          </a:xfrm>
        </p:grpSpPr>
        <p:sp>
          <p:nvSpPr>
            <p:cNvPr name="Freeform 3" id="3"/>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4" id="4"/>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062532" y="1711190"/>
            <a:ext cx="14162936" cy="1025144"/>
          </a:xfrm>
          <a:prstGeom prst="rect">
            <a:avLst/>
          </a:prstGeom>
        </p:spPr>
        <p:txBody>
          <a:bodyPr anchor="t" rtlCol="false" tIns="0" lIns="0" bIns="0" rIns="0">
            <a:spAutoFit/>
          </a:bodyPr>
          <a:lstStyle/>
          <a:p>
            <a:pPr algn="ctr">
              <a:lnSpc>
                <a:spcPts val="7737"/>
              </a:lnSpc>
            </a:pPr>
            <a:r>
              <a:rPr lang="en-US" b="true" sz="7299">
                <a:solidFill>
                  <a:srgbClr val="000000"/>
                </a:solidFill>
                <a:latin typeface="Passion One Bold"/>
                <a:ea typeface="Passion One Bold"/>
                <a:cs typeface="Passion One Bold"/>
                <a:sym typeface="Passion One Bold"/>
              </a:rPr>
              <a:t>HIPOTESA FUNCTION </a:t>
            </a:r>
            <a:r>
              <a:rPr lang="en-US" b="true" sz="7299">
                <a:solidFill>
                  <a:srgbClr val="0E2F81"/>
                </a:solidFill>
                <a:latin typeface="Passion One Bold"/>
                <a:ea typeface="Passion One Bold"/>
                <a:cs typeface="Passion One Bold"/>
                <a:sym typeface="Passion One Bold"/>
              </a:rPr>
              <a:t>Q-LEARNING</a:t>
            </a:r>
          </a:p>
        </p:txBody>
      </p:sp>
      <p:sp>
        <p:nvSpPr>
          <p:cNvPr name="TextBox 6" id="6"/>
          <p:cNvSpPr txBox="true"/>
          <p:nvPr/>
        </p:nvSpPr>
        <p:spPr>
          <a:xfrm rot="0">
            <a:off x="2450728" y="3056255"/>
            <a:ext cx="14287378" cy="4107815"/>
          </a:xfrm>
          <a:prstGeom prst="rect">
            <a:avLst/>
          </a:prstGeom>
        </p:spPr>
        <p:txBody>
          <a:bodyPr anchor="t" rtlCol="false" tIns="0" lIns="0" bIns="0" rIns="0">
            <a:spAutoFit/>
          </a:bodyPr>
          <a:lstStyle/>
          <a:p>
            <a:pPr algn="just">
              <a:lnSpc>
                <a:spcPts val="4060"/>
              </a:lnSpc>
            </a:pPr>
            <a:r>
              <a:rPr lang="en-US" sz="2900">
                <a:solidFill>
                  <a:srgbClr val="000000"/>
                </a:solidFill>
                <a:latin typeface="Inter"/>
                <a:ea typeface="Inter"/>
                <a:cs typeface="Inter"/>
                <a:sym typeface="Inter"/>
              </a:rPr>
              <a:t>Hipotesa function pada Q-Learning adalah fungsi yang memetakan setiap</a:t>
            </a:r>
          </a:p>
          <a:p>
            <a:pPr algn="just">
              <a:lnSpc>
                <a:spcPts val="4060"/>
              </a:lnSpc>
            </a:pPr>
            <a:r>
              <a:rPr lang="en-US" sz="2900">
                <a:solidFill>
                  <a:srgbClr val="000000"/>
                </a:solidFill>
                <a:latin typeface="Inter"/>
                <a:ea typeface="Inter"/>
                <a:cs typeface="Inter"/>
                <a:sym typeface="Inter"/>
              </a:rPr>
              <a:t>pasangan state dan action menjadi sebuah nilai yang disebut Q-value.</a:t>
            </a:r>
          </a:p>
          <a:p>
            <a:pPr algn="just">
              <a:lnSpc>
                <a:spcPts val="4060"/>
              </a:lnSpc>
            </a:pPr>
            <a:r>
              <a:rPr lang="en-US" sz="2900">
                <a:solidFill>
                  <a:srgbClr val="000000"/>
                </a:solidFill>
                <a:latin typeface="Inter"/>
                <a:ea typeface="Inter"/>
                <a:cs typeface="Inter"/>
                <a:sym typeface="Inter"/>
              </a:rPr>
              <a:t>Fungsi ini digunakan untuk memperkirakan seberap</a:t>
            </a:r>
            <a:r>
              <a:rPr lang="en-US" sz="2900">
                <a:solidFill>
                  <a:srgbClr val="000000"/>
                </a:solidFill>
                <a:latin typeface="Inter"/>
                <a:ea typeface="Inter"/>
                <a:cs typeface="Inter"/>
                <a:sym typeface="Inter"/>
              </a:rPr>
              <a:t>a baik suatu tindakan</a:t>
            </a:r>
          </a:p>
          <a:p>
            <a:pPr algn="just">
              <a:lnSpc>
                <a:spcPts val="4060"/>
              </a:lnSpc>
            </a:pPr>
            <a:r>
              <a:rPr lang="en-US" sz="2900">
                <a:solidFill>
                  <a:srgbClr val="000000"/>
                </a:solidFill>
                <a:latin typeface="Inter"/>
                <a:ea typeface="Inter"/>
                <a:cs typeface="Inter"/>
                <a:sym typeface="Inter"/>
              </a:rPr>
              <a:t>(action) ketika dilakukan pada kondisi tertentu (state). Hipotesa function ini</a:t>
            </a:r>
          </a:p>
          <a:p>
            <a:pPr algn="just">
              <a:lnSpc>
                <a:spcPts val="4060"/>
              </a:lnSpc>
            </a:pPr>
            <a:r>
              <a:rPr lang="en-US" sz="2900">
                <a:solidFill>
                  <a:srgbClr val="000000"/>
                </a:solidFill>
                <a:latin typeface="Inter"/>
                <a:ea typeface="Inter"/>
                <a:cs typeface="Inter"/>
                <a:sym typeface="Inter"/>
              </a:rPr>
              <a:t>dihitung menggunakan metode Action-Value Function (Q-Function) dan</a:t>
            </a:r>
          </a:p>
          <a:p>
            <a:pPr algn="just">
              <a:lnSpc>
                <a:spcPts val="4060"/>
              </a:lnSpc>
            </a:pPr>
            <a:r>
              <a:rPr lang="en-US" sz="2900">
                <a:solidFill>
                  <a:srgbClr val="000000"/>
                </a:solidFill>
                <a:latin typeface="Inter"/>
                <a:ea typeface="Inter"/>
                <a:cs typeface="Inter"/>
                <a:sym typeface="Inter"/>
              </a:rPr>
              <a:t>diperbarui dengan pendekatan Temporal Difference Learning (TD Learning),</a:t>
            </a:r>
          </a:p>
          <a:p>
            <a:pPr algn="just">
              <a:lnSpc>
                <a:spcPts val="4060"/>
              </a:lnSpc>
            </a:pPr>
            <a:r>
              <a:rPr lang="en-US" sz="2900">
                <a:solidFill>
                  <a:srgbClr val="000000"/>
                </a:solidFill>
                <a:latin typeface="Inter"/>
                <a:ea typeface="Inter"/>
                <a:cs typeface="Inter"/>
                <a:sym typeface="Inter"/>
              </a:rPr>
              <a:t>kemudian direpresentasikan dalam bentuk Q-Table.</a:t>
            </a:r>
          </a:p>
          <a:p>
            <a:pPr algn="just">
              <a:lnSpc>
                <a:spcPts val="4060"/>
              </a:lnSpc>
            </a:pPr>
          </a:p>
        </p:txBody>
      </p:sp>
      <p:sp>
        <p:nvSpPr>
          <p:cNvPr name="Freeform 7" id="7"/>
          <p:cNvSpPr/>
          <p:nvPr/>
        </p:nvSpPr>
        <p:spPr>
          <a:xfrm flipH="false" flipV="true" rot="0">
            <a:off x="-22481" y="17136"/>
            <a:ext cx="6592352" cy="3980133"/>
          </a:xfrm>
          <a:custGeom>
            <a:avLst/>
            <a:gdLst/>
            <a:ahLst/>
            <a:cxnLst/>
            <a:rect r="r" b="b" t="t" l="l"/>
            <a:pathLst>
              <a:path h="3980133" w="6592352">
                <a:moveTo>
                  <a:pt x="0" y="3980132"/>
                </a:moveTo>
                <a:lnTo>
                  <a:pt x="6592352" y="3980132"/>
                </a:lnTo>
                <a:lnTo>
                  <a:pt x="6592352" y="0"/>
                </a:lnTo>
                <a:lnTo>
                  <a:pt x="0" y="0"/>
                </a:lnTo>
                <a:lnTo>
                  <a:pt x="0" y="3980132"/>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04555" y="1870894"/>
            <a:ext cx="201438" cy="302346"/>
          </a:xfrm>
          <a:custGeom>
            <a:avLst/>
            <a:gdLst/>
            <a:ahLst/>
            <a:cxnLst/>
            <a:rect r="r" b="b" t="t" l="l"/>
            <a:pathLst>
              <a:path h="302346" w="201438">
                <a:moveTo>
                  <a:pt x="0" y="0"/>
                </a:moveTo>
                <a:lnTo>
                  <a:pt x="201438" y="0"/>
                </a:lnTo>
                <a:lnTo>
                  <a:pt x="201438" y="302347"/>
                </a:lnTo>
                <a:lnTo>
                  <a:pt x="0" y="3023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020580" y="1114425"/>
            <a:ext cx="11919437" cy="1025144"/>
          </a:xfrm>
          <a:prstGeom prst="rect">
            <a:avLst/>
          </a:prstGeom>
        </p:spPr>
        <p:txBody>
          <a:bodyPr anchor="t" rtlCol="false" tIns="0" lIns="0" bIns="0" rIns="0">
            <a:spAutoFit/>
          </a:bodyPr>
          <a:lstStyle/>
          <a:p>
            <a:pPr algn="r">
              <a:lnSpc>
                <a:spcPts val="7737"/>
              </a:lnSpc>
            </a:pPr>
            <a:r>
              <a:rPr lang="en-US" b="true" sz="7299">
                <a:solidFill>
                  <a:srgbClr val="000000"/>
                </a:solidFill>
                <a:latin typeface="Passion One Bold"/>
                <a:ea typeface="Passion One Bold"/>
                <a:cs typeface="Passion One Bold"/>
                <a:sym typeface="Passion One Bold"/>
              </a:rPr>
              <a:t>COST FUNCTION </a:t>
            </a:r>
            <a:r>
              <a:rPr lang="en-US" b="true" sz="7299">
                <a:solidFill>
                  <a:srgbClr val="0E2F81"/>
                </a:solidFill>
                <a:latin typeface="Passion One Bold"/>
                <a:ea typeface="Passion One Bold"/>
                <a:cs typeface="Passion One Bold"/>
                <a:sym typeface="Passion One Bold"/>
              </a:rPr>
              <a:t>Q-LEARNING  </a:t>
            </a:r>
          </a:p>
        </p:txBody>
      </p:sp>
      <p:sp>
        <p:nvSpPr>
          <p:cNvPr name="TextBox 4" id="4"/>
          <p:cNvSpPr txBox="true"/>
          <p:nvPr/>
        </p:nvSpPr>
        <p:spPr>
          <a:xfrm rot="0">
            <a:off x="1322596" y="2082419"/>
            <a:ext cx="15314428" cy="7910529"/>
          </a:xfrm>
          <a:prstGeom prst="rect">
            <a:avLst/>
          </a:prstGeom>
        </p:spPr>
        <p:txBody>
          <a:bodyPr anchor="t" rtlCol="false" tIns="0" lIns="0" bIns="0" rIns="0">
            <a:spAutoFit/>
          </a:bodyPr>
          <a:lstStyle/>
          <a:p>
            <a:pPr algn="just">
              <a:lnSpc>
                <a:spcPts val="3936"/>
              </a:lnSpc>
            </a:pPr>
            <a:r>
              <a:rPr lang="en-US" sz="2811">
                <a:solidFill>
                  <a:srgbClr val="000000"/>
                </a:solidFill>
                <a:latin typeface="Inter"/>
                <a:ea typeface="Inter"/>
                <a:cs typeface="Inter"/>
                <a:sym typeface="Inter"/>
              </a:rPr>
              <a:t>Dalam Q-Learning, cost function adalah ukuran selisih (error) antara:</a:t>
            </a:r>
          </a:p>
          <a:p>
            <a:pPr algn="just" marL="607081" indent="-303541" lvl="1">
              <a:lnSpc>
                <a:spcPts val="3936"/>
              </a:lnSpc>
              <a:buFont typeface="Arial"/>
              <a:buChar char="•"/>
            </a:pPr>
            <a:r>
              <a:rPr lang="en-US" sz="2811">
                <a:solidFill>
                  <a:srgbClr val="000000"/>
                </a:solidFill>
                <a:latin typeface="Inter"/>
                <a:ea typeface="Inter"/>
                <a:cs typeface="Inter"/>
                <a:sym typeface="Inter"/>
              </a:rPr>
              <a:t>Q-value saat ini, dan</a:t>
            </a:r>
          </a:p>
          <a:p>
            <a:pPr algn="just" marL="607081" indent="-303541" lvl="1">
              <a:lnSpc>
                <a:spcPts val="3936"/>
              </a:lnSpc>
              <a:buFont typeface="Arial"/>
              <a:buChar char="•"/>
            </a:pPr>
            <a:r>
              <a:rPr lang="en-US" sz="2811">
                <a:solidFill>
                  <a:srgbClr val="000000"/>
                </a:solidFill>
                <a:latin typeface="Inter"/>
                <a:ea typeface="Inter"/>
                <a:cs typeface="Inter"/>
                <a:sym typeface="Inter"/>
              </a:rPr>
              <a:t>Target Q-value, yaitu reward yang diterima diitambah nilai terbaik dari state  berikutnya.</a:t>
            </a:r>
          </a:p>
          <a:p>
            <a:pPr algn="just">
              <a:lnSpc>
                <a:spcPts val="3936"/>
              </a:lnSpc>
            </a:pPr>
            <a:r>
              <a:rPr lang="en-US" sz="2811">
                <a:solidFill>
                  <a:srgbClr val="000000"/>
                </a:solidFill>
                <a:latin typeface="Inter"/>
                <a:ea typeface="Inter"/>
                <a:cs typeface="Inter"/>
                <a:sym typeface="Inter"/>
              </a:rPr>
              <a:t>Cost function menggunakan TD Error (Temporal Differance Error) sebagai ukuran cost-nya. Tujuannya adalah meminimalkan error tersebut sehingga Q-value menjadi semakin akurat</a:t>
            </a:r>
          </a:p>
          <a:p>
            <a:pPr algn="just">
              <a:lnSpc>
                <a:spcPts val="3936"/>
              </a:lnSpc>
            </a:pPr>
          </a:p>
          <a:p>
            <a:pPr algn="just">
              <a:lnSpc>
                <a:spcPts val="3936"/>
              </a:lnSpc>
            </a:pPr>
          </a:p>
          <a:p>
            <a:pPr algn="just">
              <a:lnSpc>
                <a:spcPts val="3936"/>
              </a:lnSpc>
            </a:pPr>
          </a:p>
          <a:p>
            <a:pPr algn="just">
              <a:lnSpc>
                <a:spcPts val="3936"/>
              </a:lnSpc>
            </a:pPr>
            <a:r>
              <a:rPr lang="en-US" sz="2811">
                <a:solidFill>
                  <a:srgbClr val="000000"/>
                </a:solidFill>
                <a:latin typeface="Inter"/>
                <a:ea typeface="Inter"/>
                <a:cs typeface="Inter"/>
                <a:sym typeface="Inter"/>
              </a:rPr>
              <a:t>Keterangan :</a:t>
            </a:r>
          </a:p>
          <a:p>
            <a:pPr algn="just" marL="607081" indent="-303541" lvl="1">
              <a:lnSpc>
                <a:spcPts val="3936"/>
              </a:lnSpc>
              <a:buFont typeface="Arial"/>
              <a:buChar char="•"/>
            </a:pPr>
            <a:r>
              <a:rPr lang="en-US" sz="2811">
                <a:solidFill>
                  <a:srgbClr val="000000"/>
                </a:solidFill>
                <a:latin typeface="Inter"/>
                <a:ea typeface="Inter"/>
                <a:cs typeface="Inter"/>
                <a:sym typeface="Inter"/>
              </a:rPr>
              <a:t>r = reward</a:t>
            </a:r>
          </a:p>
          <a:p>
            <a:pPr algn="just" marL="607081" indent="-303541" lvl="1">
              <a:lnSpc>
                <a:spcPts val="3936"/>
              </a:lnSpc>
              <a:buFont typeface="Arial"/>
              <a:buChar char="•"/>
            </a:pPr>
            <a:r>
              <a:rPr lang="en-US" sz="2811">
                <a:solidFill>
                  <a:srgbClr val="000000"/>
                </a:solidFill>
                <a:latin typeface="Inter"/>
                <a:ea typeface="Inter"/>
                <a:cs typeface="Inter"/>
                <a:sym typeface="Inter"/>
              </a:rPr>
              <a:t>y (gamma) = discount factor</a:t>
            </a:r>
          </a:p>
          <a:p>
            <a:pPr algn="just" marL="607081" indent="-303541" lvl="1">
              <a:lnSpc>
                <a:spcPts val="3936"/>
              </a:lnSpc>
              <a:buFont typeface="Arial"/>
              <a:buChar char="•"/>
            </a:pPr>
            <a:r>
              <a:rPr lang="en-US" sz="2811">
                <a:solidFill>
                  <a:srgbClr val="000000"/>
                </a:solidFill>
                <a:latin typeface="Inter"/>
                <a:ea typeface="Inter"/>
                <a:cs typeface="Inter"/>
                <a:sym typeface="Inter"/>
              </a:rPr>
              <a:t>Q(s,a) = nilai Q saat ini</a:t>
            </a:r>
          </a:p>
          <a:p>
            <a:pPr algn="just" marL="607081" indent="-303541" lvl="1">
              <a:lnSpc>
                <a:spcPts val="3936"/>
              </a:lnSpc>
              <a:buFont typeface="Arial"/>
              <a:buChar char="•"/>
            </a:pPr>
            <a:r>
              <a:rPr lang="en-US" sz="2811">
                <a:solidFill>
                  <a:srgbClr val="000000"/>
                </a:solidFill>
                <a:latin typeface="Inter"/>
                <a:ea typeface="Inter"/>
                <a:cs typeface="Inter"/>
                <a:sym typeface="Inter"/>
              </a:rPr>
              <a:t>maxa Q’(s’,a’) = nilai Q terbaik dari state berikutnya</a:t>
            </a:r>
          </a:p>
          <a:p>
            <a:pPr algn="just">
              <a:lnSpc>
                <a:spcPts val="3936"/>
              </a:lnSpc>
            </a:pPr>
          </a:p>
        </p:txBody>
      </p:sp>
      <p:sp>
        <p:nvSpPr>
          <p:cNvPr name="Freeform 5" id="5"/>
          <p:cNvSpPr/>
          <p:nvPr/>
        </p:nvSpPr>
        <p:spPr>
          <a:xfrm flipH="false" flipV="false" rot="0">
            <a:off x="4454322" y="5727046"/>
            <a:ext cx="8255289" cy="1128421"/>
          </a:xfrm>
          <a:custGeom>
            <a:avLst/>
            <a:gdLst/>
            <a:ahLst/>
            <a:cxnLst/>
            <a:rect r="r" b="b" t="t" l="l"/>
            <a:pathLst>
              <a:path h="1128421" w="8255289">
                <a:moveTo>
                  <a:pt x="0" y="0"/>
                </a:moveTo>
                <a:lnTo>
                  <a:pt x="8255289" y="0"/>
                </a:lnTo>
                <a:lnTo>
                  <a:pt x="8255289" y="1128421"/>
                </a:lnTo>
                <a:lnTo>
                  <a:pt x="0" y="1128421"/>
                </a:lnTo>
                <a:lnTo>
                  <a:pt x="0" y="0"/>
                </a:lnTo>
                <a:close/>
              </a:path>
            </a:pathLst>
          </a:custGeom>
          <a:blipFill>
            <a:blip r:embed="rId4"/>
            <a:stretch>
              <a:fillRect l="0" t="0" r="0" b="0"/>
            </a:stretch>
          </a:blipFill>
        </p:spPr>
      </p:sp>
      <p:sp>
        <p:nvSpPr>
          <p:cNvPr name="Freeform 6" id="6"/>
          <p:cNvSpPr/>
          <p:nvPr/>
        </p:nvSpPr>
        <p:spPr>
          <a:xfrm flipH="true" flipV="true" rot="0">
            <a:off x="14940017" y="170894"/>
            <a:ext cx="4079096" cy="6500551"/>
          </a:xfrm>
          <a:custGeom>
            <a:avLst/>
            <a:gdLst/>
            <a:ahLst/>
            <a:cxnLst/>
            <a:rect r="r" b="b" t="t" l="l"/>
            <a:pathLst>
              <a:path h="6500551" w="4079096">
                <a:moveTo>
                  <a:pt x="4079096" y="6500551"/>
                </a:moveTo>
                <a:lnTo>
                  <a:pt x="0" y="6500551"/>
                </a:lnTo>
                <a:lnTo>
                  <a:pt x="0" y="0"/>
                </a:lnTo>
                <a:lnTo>
                  <a:pt x="4079096" y="0"/>
                </a:lnTo>
                <a:lnTo>
                  <a:pt x="4079096" y="6500551"/>
                </a:lnTo>
                <a:close/>
              </a:path>
            </a:pathLst>
          </a:custGeom>
          <a:blipFill>
            <a:blip r:embed="rId5"/>
            <a:stretch>
              <a:fillRect l="0" t="0" r="0" b="0"/>
            </a:stretch>
          </a:blipFill>
        </p:spPr>
      </p:sp>
      <p:grpSp>
        <p:nvGrpSpPr>
          <p:cNvPr name="Group 7" id="7"/>
          <p:cNvGrpSpPr/>
          <p:nvPr/>
        </p:nvGrpSpPr>
        <p:grpSpPr>
          <a:xfrm rot="0">
            <a:off x="-153397" y="9734802"/>
            <a:ext cx="18899594" cy="985414"/>
            <a:chOff x="0" y="0"/>
            <a:chExt cx="4977671" cy="259533"/>
          </a:xfrm>
        </p:grpSpPr>
        <p:sp>
          <p:nvSpPr>
            <p:cNvPr name="Freeform 8" id="8"/>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9" id="9"/>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2410"/>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95447" y="3199514"/>
            <a:ext cx="13297107" cy="3248797"/>
          </a:xfrm>
          <a:prstGeom prst="rect">
            <a:avLst/>
          </a:prstGeom>
        </p:spPr>
        <p:txBody>
          <a:bodyPr anchor="t" rtlCol="false" tIns="0" lIns="0" bIns="0" rIns="0">
            <a:spAutoFit/>
          </a:bodyPr>
          <a:lstStyle/>
          <a:p>
            <a:pPr algn="ctr">
              <a:lnSpc>
                <a:spcPts val="12538"/>
              </a:lnSpc>
            </a:pPr>
            <a:r>
              <a:rPr lang="en-US" b="true" sz="11829">
                <a:solidFill>
                  <a:srgbClr val="000000"/>
                </a:solidFill>
                <a:latin typeface="Passion One Bold"/>
                <a:ea typeface="Passion One Bold"/>
                <a:cs typeface="Passion One Bold"/>
                <a:sym typeface="Passion One Bold"/>
              </a:rPr>
              <a:t>KERANGKA BERPIKIR</a:t>
            </a:r>
          </a:p>
          <a:p>
            <a:pPr algn="ctr">
              <a:lnSpc>
                <a:spcPts val="12538"/>
              </a:lnSpc>
            </a:pPr>
            <a:r>
              <a:rPr lang="en-US" b="true" sz="11829">
                <a:solidFill>
                  <a:srgbClr val="000000"/>
                </a:solidFill>
                <a:latin typeface="Passion One Bold"/>
                <a:ea typeface="Passion One Bold"/>
                <a:cs typeface="Passion One Bold"/>
                <a:sym typeface="Passion One Bold"/>
              </a:rPr>
              <a:t> </a:t>
            </a:r>
            <a:r>
              <a:rPr lang="en-US" b="true" sz="11829">
                <a:solidFill>
                  <a:srgbClr val="0E2F81"/>
                </a:solidFill>
                <a:latin typeface="Passion One Bold"/>
                <a:ea typeface="Passion One Bold"/>
                <a:cs typeface="Passion One Bold"/>
                <a:sym typeface="Passion One Bold"/>
              </a:rPr>
              <a:t>Q-LEARNING</a:t>
            </a:r>
          </a:p>
        </p:txBody>
      </p:sp>
      <p:grpSp>
        <p:nvGrpSpPr>
          <p:cNvPr name="Group 7" id="7"/>
          <p:cNvGrpSpPr/>
          <p:nvPr/>
        </p:nvGrpSpPr>
        <p:grpSpPr>
          <a:xfrm rot="0">
            <a:off x="-153397" y="9734802"/>
            <a:ext cx="18899594" cy="985414"/>
            <a:chOff x="0" y="0"/>
            <a:chExt cx="4977671" cy="259533"/>
          </a:xfrm>
        </p:grpSpPr>
        <p:sp>
          <p:nvSpPr>
            <p:cNvPr name="Freeform 8" id="8"/>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9" id="9"/>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04555" y="1870894"/>
            <a:ext cx="201438" cy="302346"/>
          </a:xfrm>
          <a:custGeom>
            <a:avLst/>
            <a:gdLst/>
            <a:ahLst/>
            <a:cxnLst/>
            <a:rect r="r" b="b" t="t" l="l"/>
            <a:pathLst>
              <a:path h="302346" w="201438">
                <a:moveTo>
                  <a:pt x="0" y="0"/>
                </a:moveTo>
                <a:lnTo>
                  <a:pt x="201438" y="0"/>
                </a:lnTo>
                <a:lnTo>
                  <a:pt x="201438" y="302347"/>
                </a:lnTo>
                <a:lnTo>
                  <a:pt x="0" y="3023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9862760"/>
            <a:ext cx="18746197" cy="857456"/>
            <a:chOff x="0" y="0"/>
            <a:chExt cx="4937270" cy="225832"/>
          </a:xfrm>
        </p:grpSpPr>
        <p:sp>
          <p:nvSpPr>
            <p:cNvPr name="Freeform 5" id="5"/>
            <p:cNvSpPr/>
            <p:nvPr/>
          </p:nvSpPr>
          <p:spPr>
            <a:xfrm flipH="false" flipV="false" rot="0">
              <a:off x="0" y="0"/>
              <a:ext cx="4937270" cy="225832"/>
            </a:xfrm>
            <a:custGeom>
              <a:avLst/>
              <a:gdLst/>
              <a:ahLst/>
              <a:cxnLst/>
              <a:rect r="r" b="b" t="t" l="l"/>
              <a:pathLst>
                <a:path h="225832" w="4937270">
                  <a:moveTo>
                    <a:pt x="0" y="0"/>
                  </a:moveTo>
                  <a:lnTo>
                    <a:pt x="4937270" y="0"/>
                  </a:lnTo>
                  <a:lnTo>
                    <a:pt x="4937270" y="225832"/>
                  </a:lnTo>
                  <a:lnTo>
                    <a:pt x="0" y="225832"/>
                  </a:lnTo>
                  <a:close/>
                </a:path>
              </a:pathLst>
            </a:custGeom>
            <a:solidFill>
              <a:srgbClr val="043EA2"/>
            </a:solidFill>
          </p:spPr>
        </p:sp>
        <p:sp>
          <p:nvSpPr>
            <p:cNvPr name="TextBox 6" id="6"/>
            <p:cNvSpPr txBox="true"/>
            <p:nvPr/>
          </p:nvSpPr>
          <p:spPr>
            <a:xfrm>
              <a:off x="0" y="-38100"/>
              <a:ext cx="4937270" cy="263932"/>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true" rot="0">
            <a:off x="14940017" y="170894"/>
            <a:ext cx="4079096" cy="6500551"/>
          </a:xfrm>
          <a:custGeom>
            <a:avLst/>
            <a:gdLst/>
            <a:ahLst/>
            <a:cxnLst/>
            <a:rect r="r" b="b" t="t" l="l"/>
            <a:pathLst>
              <a:path h="6500551" w="4079096">
                <a:moveTo>
                  <a:pt x="4079096" y="6500551"/>
                </a:moveTo>
                <a:lnTo>
                  <a:pt x="0" y="6500551"/>
                </a:lnTo>
                <a:lnTo>
                  <a:pt x="0" y="0"/>
                </a:lnTo>
                <a:lnTo>
                  <a:pt x="4079096" y="0"/>
                </a:lnTo>
                <a:lnTo>
                  <a:pt x="4079096" y="6500551"/>
                </a:lnTo>
                <a:close/>
              </a:path>
            </a:pathLst>
          </a:custGeom>
          <a:blipFill>
            <a:blip r:embed="rId5"/>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2410"/>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79928" y="5446891"/>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9928" y="6759450"/>
            <a:ext cx="220005" cy="330215"/>
          </a:xfrm>
          <a:custGeom>
            <a:avLst/>
            <a:gdLst/>
            <a:ahLst/>
            <a:cxnLst/>
            <a:rect r="r" b="b" t="t" l="l"/>
            <a:pathLst>
              <a:path h="330215" w="220005">
                <a:moveTo>
                  <a:pt x="0" y="0"/>
                </a:moveTo>
                <a:lnTo>
                  <a:pt x="220006" y="0"/>
                </a:lnTo>
                <a:lnTo>
                  <a:pt x="220006" y="330215"/>
                </a:lnTo>
                <a:lnTo>
                  <a:pt x="0" y="330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9928" y="8072010"/>
            <a:ext cx="220005" cy="330215"/>
          </a:xfrm>
          <a:custGeom>
            <a:avLst/>
            <a:gdLst/>
            <a:ahLst/>
            <a:cxnLst/>
            <a:rect r="r" b="b" t="t" l="l"/>
            <a:pathLst>
              <a:path h="330215" w="220005">
                <a:moveTo>
                  <a:pt x="0" y="0"/>
                </a:moveTo>
                <a:lnTo>
                  <a:pt x="220006" y="0"/>
                </a:lnTo>
                <a:lnTo>
                  <a:pt x="220006" y="330214"/>
                </a:lnTo>
                <a:lnTo>
                  <a:pt x="0" y="330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062921" y="3199514"/>
            <a:ext cx="11850993" cy="3246868"/>
          </a:xfrm>
          <a:prstGeom prst="rect">
            <a:avLst/>
          </a:prstGeom>
        </p:spPr>
        <p:txBody>
          <a:bodyPr anchor="t" rtlCol="false" tIns="0" lIns="0" bIns="0" rIns="0">
            <a:spAutoFit/>
          </a:bodyPr>
          <a:lstStyle/>
          <a:p>
            <a:pPr algn="ctr">
              <a:lnSpc>
                <a:spcPts val="12538"/>
              </a:lnSpc>
            </a:pPr>
            <a:r>
              <a:rPr lang="en-US" b="true" sz="11829">
                <a:solidFill>
                  <a:srgbClr val="000000"/>
                </a:solidFill>
                <a:latin typeface="Passion One Bold"/>
                <a:ea typeface="Passion One Bold"/>
                <a:cs typeface="Passion One Bold"/>
                <a:sym typeface="Passion One Bold"/>
              </a:rPr>
              <a:t>STUDI KASUS</a:t>
            </a:r>
          </a:p>
          <a:p>
            <a:pPr algn="ctr">
              <a:lnSpc>
                <a:spcPts val="12538"/>
              </a:lnSpc>
            </a:pPr>
            <a:r>
              <a:rPr lang="en-US" b="true" sz="11829">
                <a:solidFill>
                  <a:srgbClr val="000000"/>
                </a:solidFill>
                <a:latin typeface="Passion One Bold"/>
                <a:ea typeface="Passion One Bold"/>
                <a:cs typeface="Passion One Bold"/>
                <a:sym typeface="Passion One Bold"/>
              </a:rPr>
              <a:t> </a:t>
            </a:r>
            <a:r>
              <a:rPr lang="en-US" b="true" sz="11829">
                <a:solidFill>
                  <a:srgbClr val="0E2F81"/>
                </a:solidFill>
                <a:latin typeface="Passion One Bold"/>
                <a:ea typeface="Passion One Bold"/>
                <a:cs typeface="Passion One Bold"/>
                <a:sym typeface="Passion One Bold"/>
              </a:rPr>
              <a:t>Q-LEARNING</a:t>
            </a:r>
          </a:p>
        </p:txBody>
      </p:sp>
      <p:grpSp>
        <p:nvGrpSpPr>
          <p:cNvPr name="Group 7" id="7"/>
          <p:cNvGrpSpPr/>
          <p:nvPr/>
        </p:nvGrpSpPr>
        <p:grpSpPr>
          <a:xfrm rot="0">
            <a:off x="-153397" y="9734802"/>
            <a:ext cx="18899594" cy="985414"/>
            <a:chOff x="0" y="0"/>
            <a:chExt cx="4977671" cy="259533"/>
          </a:xfrm>
        </p:grpSpPr>
        <p:sp>
          <p:nvSpPr>
            <p:cNvPr name="Freeform 8" id="8"/>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9" id="9"/>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797029" y="1114425"/>
            <a:ext cx="8693942" cy="1025144"/>
          </a:xfrm>
          <a:prstGeom prst="rect">
            <a:avLst/>
          </a:prstGeom>
        </p:spPr>
        <p:txBody>
          <a:bodyPr anchor="t" rtlCol="false" tIns="0" lIns="0" bIns="0" rIns="0">
            <a:spAutoFit/>
          </a:bodyPr>
          <a:lstStyle/>
          <a:p>
            <a:pPr algn="r">
              <a:lnSpc>
                <a:spcPts val="7737"/>
              </a:lnSpc>
            </a:pPr>
            <a:r>
              <a:rPr lang="en-US" b="true" sz="7299">
                <a:solidFill>
                  <a:srgbClr val="000000"/>
                </a:solidFill>
                <a:latin typeface="Passion One Bold"/>
                <a:ea typeface="Passion One Bold"/>
                <a:cs typeface="Passion One Bold"/>
                <a:sym typeface="Passion One Bold"/>
              </a:rPr>
              <a:t>CONTOH </a:t>
            </a:r>
            <a:r>
              <a:rPr lang="en-US" b="true" sz="7299">
                <a:solidFill>
                  <a:srgbClr val="043EA2"/>
                </a:solidFill>
                <a:latin typeface="Passion One Bold"/>
                <a:ea typeface="Passion One Bold"/>
                <a:cs typeface="Passion One Bold"/>
                <a:sym typeface="Passion One Bold"/>
              </a:rPr>
              <a:t>STUDI KASUS</a:t>
            </a:r>
            <a:r>
              <a:rPr lang="en-US" b="true" sz="7299">
                <a:solidFill>
                  <a:srgbClr val="0E2F81"/>
                </a:solidFill>
                <a:latin typeface="Passion One Bold"/>
                <a:ea typeface="Passion One Bold"/>
                <a:cs typeface="Passion One Bold"/>
                <a:sym typeface="Passion One Bold"/>
              </a:rPr>
              <a:t> </a:t>
            </a:r>
          </a:p>
        </p:txBody>
      </p:sp>
      <p:grpSp>
        <p:nvGrpSpPr>
          <p:cNvPr name="Group 3" id="3"/>
          <p:cNvGrpSpPr/>
          <p:nvPr/>
        </p:nvGrpSpPr>
        <p:grpSpPr>
          <a:xfrm rot="0">
            <a:off x="-153397" y="9734802"/>
            <a:ext cx="18899594" cy="985414"/>
            <a:chOff x="0" y="0"/>
            <a:chExt cx="4977671" cy="259533"/>
          </a:xfrm>
        </p:grpSpPr>
        <p:sp>
          <p:nvSpPr>
            <p:cNvPr name="Freeform 4" id="4"/>
            <p:cNvSpPr/>
            <p:nvPr/>
          </p:nvSpPr>
          <p:spPr>
            <a:xfrm flipH="false" flipV="false" rot="0">
              <a:off x="0" y="0"/>
              <a:ext cx="4977671" cy="259533"/>
            </a:xfrm>
            <a:custGeom>
              <a:avLst/>
              <a:gdLst/>
              <a:ahLst/>
              <a:cxnLst/>
              <a:rect r="r" b="b" t="t" l="l"/>
              <a:pathLst>
                <a:path h="259533" w="4977671">
                  <a:moveTo>
                    <a:pt x="0" y="0"/>
                  </a:moveTo>
                  <a:lnTo>
                    <a:pt x="4977671" y="0"/>
                  </a:lnTo>
                  <a:lnTo>
                    <a:pt x="4977671" y="259533"/>
                  </a:lnTo>
                  <a:lnTo>
                    <a:pt x="0" y="259533"/>
                  </a:lnTo>
                  <a:close/>
                </a:path>
              </a:pathLst>
            </a:custGeom>
            <a:solidFill>
              <a:srgbClr val="043EA2"/>
            </a:solidFill>
          </p:spPr>
        </p:sp>
        <p:sp>
          <p:nvSpPr>
            <p:cNvPr name="TextBox 5" id="5"/>
            <p:cNvSpPr txBox="true"/>
            <p:nvPr/>
          </p:nvSpPr>
          <p:spPr>
            <a:xfrm>
              <a:off x="0" y="-38100"/>
              <a:ext cx="4977671" cy="29763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0" y="-481049"/>
            <a:ext cx="3062921" cy="3529049"/>
          </a:xfrm>
          <a:custGeom>
            <a:avLst/>
            <a:gdLst/>
            <a:ahLst/>
            <a:cxnLst/>
            <a:rect r="r" b="b" t="t" l="l"/>
            <a:pathLst>
              <a:path h="3529049" w="3062921">
                <a:moveTo>
                  <a:pt x="0" y="0"/>
                </a:moveTo>
                <a:lnTo>
                  <a:pt x="3062921" y="0"/>
                </a:lnTo>
                <a:lnTo>
                  <a:pt x="3062921" y="3529049"/>
                </a:lnTo>
                <a:lnTo>
                  <a:pt x="0" y="352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503436" y="2990850"/>
            <a:ext cx="14490578" cy="4247193"/>
          </a:xfrm>
          <a:prstGeom prst="rect">
            <a:avLst/>
          </a:prstGeom>
        </p:spPr>
        <p:txBody>
          <a:bodyPr anchor="t" rtlCol="false" tIns="0" lIns="0" bIns="0" rIns="0">
            <a:spAutoFit/>
          </a:bodyPr>
          <a:lstStyle/>
          <a:p>
            <a:pPr algn="just">
              <a:lnSpc>
                <a:spcPts val="4252"/>
              </a:lnSpc>
            </a:pPr>
            <a:r>
              <a:rPr lang="en-US" sz="3037">
                <a:solidFill>
                  <a:srgbClr val="000000"/>
                </a:solidFill>
                <a:latin typeface="Inter"/>
                <a:ea typeface="Inter"/>
                <a:cs typeface="Inter"/>
                <a:sym typeface="Inter"/>
              </a:rPr>
              <a:t>seorang agen atau detektif belajar mencari rute terbaik di dalam sebuah jaringan titik (graf) untuk mencapai lokasi bandar narkoba yang direpresentasikan sebagai node 10. Agen menggunakan algoritma Q-Learning untuk mencoba berb</a:t>
            </a:r>
            <a:r>
              <a:rPr lang="en-US" sz="3037">
                <a:solidFill>
                  <a:srgbClr val="000000"/>
                </a:solidFill>
                <a:latin typeface="Inter"/>
                <a:ea typeface="Inter"/>
                <a:cs typeface="Inter"/>
                <a:sym typeface="Inter"/>
              </a:rPr>
              <a:t>agai jalur dan belajar dari reward yang diberikan, sehingga lama-kelamaan menemukan rute yang paling efisien. Selain itu, studi kasus ini juga memanfaatkan informasi lingkungan berupa posisi polisi dan jejak narkoba, sehingga agen tidak hanya fokus sampai ke bandar, tetapi juga berusaha memilih rute yang lebih aman dengan menghindari node yang berisiko.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41093"/>
            <a:ext cx="3377744" cy="3891783"/>
          </a:xfrm>
          <a:custGeom>
            <a:avLst/>
            <a:gdLst/>
            <a:ahLst/>
            <a:cxnLst/>
            <a:rect r="r" b="b" t="t" l="l"/>
            <a:pathLst>
              <a:path h="3891783" w="3377744">
                <a:moveTo>
                  <a:pt x="0" y="0"/>
                </a:moveTo>
                <a:lnTo>
                  <a:pt x="3377744" y="0"/>
                </a:lnTo>
                <a:lnTo>
                  <a:pt x="3377744" y="3891783"/>
                </a:lnTo>
                <a:lnTo>
                  <a:pt x="0" y="3891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29350" y="1584134"/>
            <a:ext cx="5340276" cy="3917321"/>
          </a:xfrm>
          <a:custGeom>
            <a:avLst/>
            <a:gdLst/>
            <a:ahLst/>
            <a:cxnLst/>
            <a:rect r="r" b="b" t="t" l="l"/>
            <a:pathLst>
              <a:path h="3917321" w="5340276">
                <a:moveTo>
                  <a:pt x="0" y="0"/>
                </a:moveTo>
                <a:lnTo>
                  <a:pt x="5340276" y="0"/>
                </a:lnTo>
                <a:lnTo>
                  <a:pt x="5340276" y="3917321"/>
                </a:lnTo>
                <a:lnTo>
                  <a:pt x="0" y="3917321"/>
                </a:lnTo>
                <a:lnTo>
                  <a:pt x="0" y="0"/>
                </a:lnTo>
                <a:close/>
              </a:path>
            </a:pathLst>
          </a:custGeom>
          <a:blipFill>
            <a:blip r:embed="rId4"/>
            <a:stretch>
              <a:fillRect l="0" t="-2061" r="0" b="-2061"/>
            </a:stretch>
          </a:blipFill>
        </p:spPr>
      </p:sp>
      <p:grpSp>
        <p:nvGrpSpPr>
          <p:cNvPr name="Group 4" id="4"/>
          <p:cNvGrpSpPr>
            <a:grpSpLocks noChangeAspect="true"/>
          </p:cNvGrpSpPr>
          <p:nvPr/>
        </p:nvGrpSpPr>
        <p:grpSpPr>
          <a:xfrm rot="0">
            <a:off x="3612348" y="1584134"/>
            <a:ext cx="6000861" cy="3870555"/>
            <a:chOff x="0" y="0"/>
            <a:chExt cx="6350000" cy="4095750"/>
          </a:xfrm>
        </p:grpSpPr>
        <p:sp>
          <p:nvSpPr>
            <p:cNvPr name="Freeform 5" id="5"/>
            <p:cNvSpPr/>
            <p:nvPr/>
          </p:nvSpPr>
          <p:spPr>
            <a:xfrm flipH="false" flipV="false" rot="0">
              <a:off x="101600" y="521970"/>
              <a:ext cx="6146800" cy="3472180"/>
            </a:xfrm>
            <a:custGeom>
              <a:avLst/>
              <a:gdLst/>
              <a:ahLst/>
              <a:cxnLst/>
              <a:rect r="r" b="b" t="t" l="l"/>
              <a:pathLst>
                <a:path h="3472180" w="6146800">
                  <a:moveTo>
                    <a:pt x="0" y="0"/>
                  </a:moveTo>
                  <a:lnTo>
                    <a:pt x="6146800" y="0"/>
                  </a:lnTo>
                  <a:lnTo>
                    <a:pt x="6146800" y="3472180"/>
                  </a:lnTo>
                  <a:lnTo>
                    <a:pt x="0" y="3472180"/>
                  </a:lnTo>
                  <a:lnTo>
                    <a:pt x="0" y="0"/>
                  </a:lnTo>
                  <a:close/>
                </a:path>
              </a:pathLst>
            </a:custGeom>
            <a:blipFill>
              <a:blip r:embed="rId5"/>
              <a:stretch>
                <a:fillRect l="0" t="0" r="-19739" b="0"/>
              </a:stretch>
            </a:blipFill>
          </p:spPr>
        </p:sp>
        <p:sp>
          <p:nvSpPr>
            <p:cNvPr name="Freeform 6" id="6"/>
            <p:cNvSpPr/>
            <p:nvPr/>
          </p:nvSpPr>
          <p:spPr>
            <a:xfrm flipH="false" flipV="false" rot="0">
              <a:off x="95250" y="110490"/>
              <a:ext cx="1186180" cy="311150"/>
            </a:xfrm>
            <a:custGeom>
              <a:avLst/>
              <a:gdLst/>
              <a:ahLst/>
              <a:cxnLst/>
              <a:rect r="r" b="b" t="t" l="l"/>
              <a:pathLst>
                <a:path h="311150" w="1186180">
                  <a:moveTo>
                    <a:pt x="537210" y="99060"/>
                  </a:moveTo>
                  <a:lnTo>
                    <a:pt x="648970" y="99060"/>
                  </a:lnTo>
                  <a:lnTo>
                    <a:pt x="648970" y="210820"/>
                  </a:lnTo>
                  <a:lnTo>
                    <a:pt x="537210" y="210820"/>
                  </a:lnTo>
                  <a:lnTo>
                    <a:pt x="537210" y="99060"/>
                  </a:lnTo>
                  <a:close/>
                  <a:moveTo>
                    <a:pt x="6350" y="0"/>
                  </a:moveTo>
                  <a:lnTo>
                    <a:pt x="312420" y="0"/>
                  </a:lnTo>
                  <a:lnTo>
                    <a:pt x="312420" y="311150"/>
                  </a:lnTo>
                  <a:lnTo>
                    <a:pt x="6350" y="311150"/>
                  </a:lnTo>
                  <a:lnTo>
                    <a:pt x="0" y="311150"/>
                  </a:lnTo>
                  <a:lnTo>
                    <a:pt x="0" y="0"/>
                  </a:lnTo>
                  <a:lnTo>
                    <a:pt x="6350" y="0"/>
                  </a:lnTo>
                  <a:close/>
                  <a:moveTo>
                    <a:pt x="120650" y="156210"/>
                  </a:moveTo>
                  <a:lnTo>
                    <a:pt x="43180" y="232410"/>
                  </a:lnTo>
                  <a:lnTo>
                    <a:pt x="78740" y="267970"/>
                  </a:lnTo>
                  <a:lnTo>
                    <a:pt x="156210" y="190500"/>
                  </a:lnTo>
                  <a:lnTo>
                    <a:pt x="233680" y="267970"/>
                  </a:lnTo>
                  <a:lnTo>
                    <a:pt x="269240" y="232410"/>
                  </a:lnTo>
                  <a:lnTo>
                    <a:pt x="191770" y="156210"/>
                  </a:lnTo>
                  <a:lnTo>
                    <a:pt x="269240" y="78740"/>
                  </a:lnTo>
                  <a:lnTo>
                    <a:pt x="233680" y="43180"/>
                  </a:lnTo>
                  <a:lnTo>
                    <a:pt x="156210" y="120650"/>
                  </a:lnTo>
                  <a:lnTo>
                    <a:pt x="78740" y="43180"/>
                  </a:lnTo>
                  <a:lnTo>
                    <a:pt x="43180" y="78740"/>
                  </a:lnTo>
                  <a:lnTo>
                    <a:pt x="120650" y="156210"/>
                  </a:lnTo>
                  <a:close/>
                  <a:moveTo>
                    <a:pt x="436880" y="0"/>
                  </a:moveTo>
                  <a:lnTo>
                    <a:pt x="748030" y="0"/>
                  </a:lnTo>
                  <a:lnTo>
                    <a:pt x="748030" y="311150"/>
                  </a:lnTo>
                  <a:lnTo>
                    <a:pt x="436880" y="311150"/>
                  </a:lnTo>
                  <a:lnTo>
                    <a:pt x="436880" y="0"/>
                  </a:lnTo>
                  <a:close/>
                  <a:moveTo>
                    <a:pt x="486410" y="261620"/>
                  </a:moveTo>
                  <a:lnTo>
                    <a:pt x="699770" y="261620"/>
                  </a:lnTo>
                  <a:lnTo>
                    <a:pt x="699770" y="48260"/>
                  </a:lnTo>
                  <a:lnTo>
                    <a:pt x="486410" y="48260"/>
                  </a:lnTo>
                  <a:lnTo>
                    <a:pt x="486410" y="261620"/>
                  </a:lnTo>
                  <a:close/>
                  <a:moveTo>
                    <a:pt x="1186180" y="0"/>
                  </a:moveTo>
                  <a:lnTo>
                    <a:pt x="1186180" y="311150"/>
                  </a:lnTo>
                  <a:lnTo>
                    <a:pt x="875030" y="311150"/>
                  </a:lnTo>
                  <a:lnTo>
                    <a:pt x="875030" y="0"/>
                  </a:lnTo>
                  <a:lnTo>
                    <a:pt x="1186180" y="0"/>
                  </a:lnTo>
                  <a:close/>
                  <a:moveTo>
                    <a:pt x="1135380" y="185420"/>
                  </a:moveTo>
                  <a:lnTo>
                    <a:pt x="924560" y="185420"/>
                  </a:lnTo>
                  <a:lnTo>
                    <a:pt x="924560" y="236220"/>
                  </a:lnTo>
                  <a:lnTo>
                    <a:pt x="1135380" y="236220"/>
                  </a:lnTo>
                  <a:lnTo>
                    <a:pt x="1135380" y="185420"/>
                  </a:lnTo>
                  <a:close/>
                </a:path>
              </a:pathLst>
            </a:custGeom>
            <a:solidFill>
              <a:srgbClr val="FACEE1"/>
            </a:solidFill>
          </p:spPr>
        </p:sp>
        <p:sp>
          <p:nvSpPr>
            <p:cNvPr name="Freeform 7" id="7"/>
            <p:cNvSpPr/>
            <p:nvPr/>
          </p:nvSpPr>
          <p:spPr>
            <a:xfrm flipH="false" flipV="false" rot="0">
              <a:off x="0" y="0"/>
              <a:ext cx="6350000" cy="4095750"/>
            </a:xfrm>
            <a:custGeom>
              <a:avLst/>
              <a:gdLst/>
              <a:ahLst/>
              <a:cxnLst/>
              <a:rect r="r" b="b" t="t" l="l"/>
              <a:pathLst>
                <a:path h="4095750" w="6350000">
                  <a:moveTo>
                    <a:pt x="0" y="0"/>
                  </a:moveTo>
                  <a:lnTo>
                    <a:pt x="0" y="521970"/>
                  </a:lnTo>
                  <a:lnTo>
                    <a:pt x="0" y="4095750"/>
                  </a:lnTo>
                  <a:lnTo>
                    <a:pt x="6350000" y="4095750"/>
                  </a:lnTo>
                  <a:lnTo>
                    <a:pt x="6350000" y="521970"/>
                  </a:lnTo>
                  <a:lnTo>
                    <a:pt x="6350000" y="0"/>
                  </a:lnTo>
                  <a:lnTo>
                    <a:pt x="0" y="0"/>
                  </a:lnTo>
                  <a:close/>
                  <a:moveTo>
                    <a:pt x="6248400" y="3994150"/>
                  </a:moveTo>
                  <a:lnTo>
                    <a:pt x="101600" y="3994150"/>
                  </a:lnTo>
                  <a:lnTo>
                    <a:pt x="101600" y="521970"/>
                  </a:lnTo>
                  <a:lnTo>
                    <a:pt x="6248400" y="521970"/>
                  </a:lnTo>
                  <a:lnTo>
                    <a:pt x="6248400" y="3994150"/>
                  </a:lnTo>
                  <a:close/>
                  <a:moveTo>
                    <a:pt x="1281430" y="110490"/>
                  </a:moveTo>
                  <a:lnTo>
                    <a:pt x="1281430" y="421640"/>
                  </a:lnTo>
                  <a:lnTo>
                    <a:pt x="970280" y="421640"/>
                  </a:lnTo>
                  <a:lnTo>
                    <a:pt x="970280" y="110490"/>
                  </a:lnTo>
                  <a:lnTo>
                    <a:pt x="1281430" y="110490"/>
                  </a:lnTo>
                  <a:close/>
                  <a:moveTo>
                    <a:pt x="844550" y="110490"/>
                  </a:moveTo>
                  <a:lnTo>
                    <a:pt x="844550" y="421640"/>
                  </a:lnTo>
                  <a:lnTo>
                    <a:pt x="532130" y="421640"/>
                  </a:lnTo>
                  <a:lnTo>
                    <a:pt x="532130" y="110490"/>
                  </a:lnTo>
                  <a:lnTo>
                    <a:pt x="844550" y="110490"/>
                  </a:lnTo>
                  <a:close/>
                  <a:moveTo>
                    <a:pt x="407670" y="110490"/>
                  </a:moveTo>
                  <a:lnTo>
                    <a:pt x="407670" y="421640"/>
                  </a:lnTo>
                  <a:lnTo>
                    <a:pt x="101600" y="421640"/>
                  </a:lnTo>
                  <a:lnTo>
                    <a:pt x="95250" y="421640"/>
                  </a:lnTo>
                  <a:lnTo>
                    <a:pt x="95250" y="110490"/>
                  </a:lnTo>
                  <a:lnTo>
                    <a:pt x="101600" y="110490"/>
                  </a:lnTo>
                  <a:lnTo>
                    <a:pt x="407670" y="110490"/>
                  </a:lnTo>
                  <a:close/>
                  <a:moveTo>
                    <a:pt x="364490" y="189230"/>
                  </a:moveTo>
                  <a:lnTo>
                    <a:pt x="287020" y="266700"/>
                  </a:lnTo>
                  <a:lnTo>
                    <a:pt x="364490" y="344170"/>
                  </a:lnTo>
                  <a:lnTo>
                    <a:pt x="328930" y="379730"/>
                  </a:lnTo>
                  <a:lnTo>
                    <a:pt x="251460" y="302260"/>
                  </a:lnTo>
                  <a:lnTo>
                    <a:pt x="173990" y="379730"/>
                  </a:lnTo>
                  <a:lnTo>
                    <a:pt x="138430" y="342900"/>
                  </a:lnTo>
                  <a:lnTo>
                    <a:pt x="215900" y="266700"/>
                  </a:lnTo>
                  <a:lnTo>
                    <a:pt x="138430" y="189230"/>
                  </a:lnTo>
                  <a:lnTo>
                    <a:pt x="173990" y="153670"/>
                  </a:lnTo>
                  <a:lnTo>
                    <a:pt x="251460" y="231140"/>
                  </a:lnTo>
                  <a:lnTo>
                    <a:pt x="328930" y="153670"/>
                  </a:lnTo>
                  <a:lnTo>
                    <a:pt x="364490" y="189230"/>
                  </a:lnTo>
                  <a:close/>
                  <a:moveTo>
                    <a:pt x="795020" y="158750"/>
                  </a:moveTo>
                  <a:lnTo>
                    <a:pt x="581660" y="158750"/>
                  </a:lnTo>
                  <a:lnTo>
                    <a:pt x="581660" y="372110"/>
                  </a:lnTo>
                  <a:lnTo>
                    <a:pt x="795020" y="372110"/>
                  </a:lnTo>
                  <a:lnTo>
                    <a:pt x="795020" y="158750"/>
                  </a:lnTo>
                  <a:close/>
                  <a:moveTo>
                    <a:pt x="744220" y="321310"/>
                  </a:moveTo>
                  <a:lnTo>
                    <a:pt x="632460" y="321310"/>
                  </a:lnTo>
                  <a:lnTo>
                    <a:pt x="632460" y="209550"/>
                  </a:lnTo>
                  <a:lnTo>
                    <a:pt x="744220" y="209550"/>
                  </a:lnTo>
                  <a:lnTo>
                    <a:pt x="744220" y="321310"/>
                  </a:lnTo>
                  <a:close/>
                  <a:moveTo>
                    <a:pt x="1019810" y="295910"/>
                  </a:moveTo>
                  <a:lnTo>
                    <a:pt x="1230630" y="295910"/>
                  </a:lnTo>
                  <a:lnTo>
                    <a:pt x="1230630" y="346710"/>
                  </a:lnTo>
                  <a:lnTo>
                    <a:pt x="1019810" y="346710"/>
                  </a:lnTo>
                  <a:lnTo>
                    <a:pt x="1019810" y="295910"/>
                  </a:lnTo>
                  <a:close/>
                </a:path>
              </a:pathLst>
            </a:custGeom>
            <a:solidFill>
              <a:srgbClr val="6466AF"/>
            </a:solidFill>
          </p:spPr>
        </p:sp>
      </p:grpSp>
      <p:grpSp>
        <p:nvGrpSpPr>
          <p:cNvPr name="Group 8" id="8"/>
          <p:cNvGrpSpPr>
            <a:grpSpLocks noChangeAspect="true"/>
          </p:cNvGrpSpPr>
          <p:nvPr/>
        </p:nvGrpSpPr>
        <p:grpSpPr>
          <a:xfrm rot="0">
            <a:off x="3612348" y="5606009"/>
            <a:ext cx="5766256" cy="4370822"/>
            <a:chOff x="0" y="0"/>
            <a:chExt cx="6350000" cy="4813300"/>
          </a:xfrm>
        </p:grpSpPr>
        <p:sp>
          <p:nvSpPr>
            <p:cNvPr name="Freeform 9" id="9"/>
            <p:cNvSpPr/>
            <p:nvPr/>
          </p:nvSpPr>
          <p:spPr>
            <a:xfrm flipH="false" flipV="false" rot="0">
              <a:off x="76200" y="651510"/>
              <a:ext cx="6197600" cy="4085590"/>
            </a:xfrm>
            <a:custGeom>
              <a:avLst/>
              <a:gdLst/>
              <a:ahLst/>
              <a:cxnLst/>
              <a:rect r="r" b="b" t="t" l="l"/>
              <a:pathLst>
                <a:path h="4085590" w="6197600">
                  <a:moveTo>
                    <a:pt x="6197600" y="4085590"/>
                  </a:moveTo>
                  <a:lnTo>
                    <a:pt x="0" y="4085590"/>
                  </a:lnTo>
                  <a:lnTo>
                    <a:pt x="0" y="0"/>
                  </a:lnTo>
                  <a:lnTo>
                    <a:pt x="6197600" y="0"/>
                  </a:lnTo>
                  <a:lnTo>
                    <a:pt x="6197600" y="4085590"/>
                  </a:lnTo>
                  <a:close/>
                </a:path>
              </a:pathLst>
            </a:custGeom>
            <a:blipFill>
              <a:blip r:embed="rId6"/>
              <a:stretch>
                <a:fillRect l="0" t="0" r="0" b="0"/>
              </a:stretch>
            </a:blipFill>
          </p:spPr>
        </p:sp>
        <p:sp>
          <p:nvSpPr>
            <p:cNvPr name="Freeform 10" id="10"/>
            <p:cNvSpPr/>
            <p:nvPr/>
          </p:nvSpPr>
          <p:spPr>
            <a:xfrm flipH="false" flipV="false" rot="0">
              <a:off x="76200" y="76200"/>
              <a:ext cx="6197600" cy="500380"/>
            </a:xfrm>
            <a:custGeom>
              <a:avLst/>
              <a:gdLst/>
              <a:ahLst/>
              <a:cxnLst/>
              <a:rect r="r" b="b" t="t" l="l"/>
              <a:pathLst>
                <a:path h="500380" w="6197600">
                  <a:moveTo>
                    <a:pt x="0" y="0"/>
                  </a:moveTo>
                  <a:lnTo>
                    <a:pt x="6197600" y="0"/>
                  </a:lnTo>
                  <a:lnTo>
                    <a:pt x="6197600" y="500380"/>
                  </a:lnTo>
                  <a:lnTo>
                    <a:pt x="0" y="500380"/>
                  </a:lnTo>
                  <a:close/>
                </a:path>
              </a:pathLst>
            </a:custGeom>
            <a:solidFill>
              <a:srgbClr val="ADDEDC"/>
            </a:solidFill>
          </p:spPr>
        </p:sp>
        <p:sp>
          <p:nvSpPr>
            <p:cNvPr name="Freeform 11" id="11"/>
            <p:cNvSpPr/>
            <p:nvPr/>
          </p:nvSpPr>
          <p:spPr>
            <a:xfrm flipH="false" flipV="false" rot="0">
              <a:off x="0" y="0"/>
              <a:ext cx="6350000" cy="4813300"/>
            </a:xfrm>
            <a:custGeom>
              <a:avLst/>
              <a:gdLst/>
              <a:ahLst/>
              <a:cxnLst/>
              <a:rect r="r" b="b" t="t" l="l"/>
              <a:pathLst>
                <a:path h="4813300" w="6350000">
                  <a:moveTo>
                    <a:pt x="0" y="0"/>
                  </a:moveTo>
                  <a:lnTo>
                    <a:pt x="0" y="575310"/>
                  </a:lnTo>
                  <a:lnTo>
                    <a:pt x="0" y="652780"/>
                  </a:lnTo>
                  <a:lnTo>
                    <a:pt x="0" y="4813300"/>
                  </a:lnTo>
                  <a:lnTo>
                    <a:pt x="6350000" y="4813300"/>
                  </a:lnTo>
                  <a:lnTo>
                    <a:pt x="6350000" y="652780"/>
                  </a:lnTo>
                  <a:lnTo>
                    <a:pt x="6350000" y="575310"/>
                  </a:lnTo>
                  <a:lnTo>
                    <a:pt x="6350000" y="0"/>
                  </a:lnTo>
                  <a:lnTo>
                    <a:pt x="0" y="0"/>
                  </a:lnTo>
                  <a:close/>
                  <a:moveTo>
                    <a:pt x="6273800" y="4737100"/>
                  </a:moveTo>
                  <a:lnTo>
                    <a:pt x="76200" y="4737100"/>
                  </a:lnTo>
                  <a:lnTo>
                    <a:pt x="76200" y="652780"/>
                  </a:lnTo>
                  <a:lnTo>
                    <a:pt x="6273800" y="652780"/>
                  </a:lnTo>
                  <a:lnTo>
                    <a:pt x="6273800" y="4737100"/>
                  </a:lnTo>
                  <a:close/>
                  <a:moveTo>
                    <a:pt x="6273800" y="575310"/>
                  </a:moveTo>
                  <a:lnTo>
                    <a:pt x="76200" y="575310"/>
                  </a:lnTo>
                  <a:lnTo>
                    <a:pt x="76200" y="76200"/>
                  </a:lnTo>
                  <a:lnTo>
                    <a:pt x="6273800" y="76200"/>
                  </a:lnTo>
                  <a:lnTo>
                    <a:pt x="6273800" y="575310"/>
                  </a:lnTo>
                  <a:close/>
                  <a:moveTo>
                    <a:pt x="285750" y="320040"/>
                  </a:moveTo>
                  <a:cubicBezTo>
                    <a:pt x="285750" y="259080"/>
                    <a:pt x="335280" y="209550"/>
                    <a:pt x="396240" y="209550"/>
                  </a:cubicBezTo>
                  <a:cubicBezTo>
                    <a:pt x="457200" y="209550"/>
                    <a:pt x="506730" y="259080"/>
                    <a:pt x="506730" y="320040"/>
                  </a:cubicBezTo>
                  <a:cubicBezTo>
                    <a:pt x="506730" y="381000"/>
                    <a:pt x="458470" y="431800"/>
                    <a:pt x="396240" y="431800"/>
                  </a:cubicBezTo>
                  <a:cubicBezTo>
                    <a:pt x="335280" y="431800"/>
                    <a:pt x="285750" y="382270"/>
                    <a:pt x="285750" y="320040"/>
                  </a:cubicBezTo>
                  <a:close/>
                  <a:moveTo>
                    <a:pt x="660400" y="320040"/>
                  </a:moveTo>
                  <a:cubicBezTo>
                    <a:pt x="660400" y="259080"/>
                    <a:pt x="709930" y="209550"/>
                    <a:pt x="770890" y="209550"/>
                  </a:cubicBezTo>
                  <a:cubicBezTo>
                    <a:pt x="831850" y="209550"/>
                    <a:pt x="881380" y="259080"/>
                    <a:pt x="881380" y="320040"/>
                  </a:cubicBezTo>
                  <a:cubicBezTo>
                    <a:pt x="881380" y="381000"/>
                    <a:pt x="833120" y="431800"/>
                    <a:pt x="772160" y="431800"/>
                  </a:cubicBezTo>
                  <a:cubicBezTo>
                    <a:pt x="711200" y="431800"/>
                    <a:pt x="660400" y="382270"/>
                    <a:pt x="660400" y="320040"/>
                  </a:cubicBezTo>
                  <a:close/>
                  <a:moveTo>
                    <a:pt x="1036320" y="320040"/>
                  </a:moveTo>
                  <a:cubicBezTo>
                    <a:pt x="1036320" y="259080"/>
                    <a:pt x="1085850" y="209550"/>
                    <a:pt x="1146810" y="209550"/>
                  </a:cubicBezTo>
                  <a:cubicBezTo>
                    <a:pt x="1207770" y="209550"/>
                    <a:pt x="1257300" y="259080"/>
                    <a:pt x="1257300" y="320040"/>
                  </a:cubicBezTo>
                  <a:cubicBezTo>
                    <a:pt x="1257300" y="381000"/>
                    <a:pt x="1207770" y="431800"/>
                    <a:pt x="1146810" y="431800"/>
                  </a:cubicBezTo>
                  <a:cubicBezTo>
                    <a:pt x="1085850" y="431800"/>
                    <a:pt x="1036320" y="382270"/>
                    <a:pt x="1036320" y="320040"/>
                  </a:cubicBezTo>
                  <a:close/>
                  <a:moveTo>
                    <a:pt x="6018530" y="274320"/>
                  </a:moveTo>
                  <a:lnTo>
                    <a:pt x="1457960" y="274320"/>
                  </a:lnTo>
                  <a:lnTo>
                    <a:pt x="1457960" y="198120"/>
                  </a:lnTo>
                  <a:lnTo>
                    <a:pt x="6018530" y="198120"/>
                  </a:lnTo>
                  <a:lnTo>
                    <a:pt x="6018530" y="274320"/>
                  </a:lnTo>
                  <a:close/>
                  <a:moveTo>
                    <a:pt x="6018530" y="444500"/>
                  </a:moveTo>
                  <a:lnTo>
                    <a:pt x="1457960" y="444500"/>
                  </a:lnTo>
                  <a:lnTo>
                    <a:pt x="1457960" y="368300"/>
                  </a:lnTo>
                  <a:lnTo>
                    <a:pt x="6018530" y="368300"/>
                  </a:lnTo>
                  <a:lnTo>
                    <a:pt x="6018530" y="444500"/>
                  </a:lnTo>
                  <a:close/>
                </a:path>
              </a:pathLst>
            </a:custGeom>
            <a:solidFill>
              <a:srgbClr val="3954A3"/>
            </a:solidFill>
          </p:spPr>
        </p:sp>
      </p:grpSp>
      <p:sp>
        <p:nvSpPr>
          <p:cNvPr name="Freeform 12" id="12"/>
          <p:cNvSpPr/>
          <p:nvPr/>
        </p:nvSpPr>
        <p:spPr>
          <a:xfrm flipH="false" flipV="false" rot="0">
            <a:off x="9829350" y="6146332"/>
            <a:ext cx="5730967" cy="3111968"/>
          </a:xfrm>
          <a:custGeom>
            <a:avLst/>
            <a:gdLst/>
            <a:ahLst/>
            <a:cxnLst/>
            <a:rect r="r" b="b" t="t" l="l"/>
            <a:pathLst>
              <a:path h="3111968" w="5730967">
                <a:moveTo>
                  <a:pt x="0" y="0"/>
                </a:moveTo>
                <a:lnTo>
                  <a:pt x="5730966" y="0"/>
                </a:lnTo>
                <a:lnTo>
                  <a:pt x="5730966" y="3111968"/>
                </a:lnTo>
                <a:lnTo>
                  <a:pt x="0" y="3111968"/>
                </a:lnTo>
                <a:lnTo>
                  <a:pt x="0" y="0"/>
                </a:lnTo>
                <a:close/>
              </a:path>
            </a:pathLst>
          </a:custGeom>
          <a:blipFill>
            <a:blip r:embed="rId7"/>
            <a:stretch>
              <a:fillRect l="0" t="-725" r="-20036" b="0"/>
            </a:stretch>
          </a:blipFill>
        </p:spPr>
      </p:sp>
      <p:sp>
        <p:nvSpPr>
          <p:cNvPr name="TextBox 13" id="13"/>
          <p:cNvSpPr txBox="true"/>
          <p:nvPr/>
        </p:nvSpPr>
        <p:spPr>
          <a:xfrm rot="0">
            <a:off x="3727123" y="379654"/>
            <a:ext cx="11772171"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KODE PROGRAM </a:t>
            </a:r>
            <a:r>
              <a:rPr lang="en-US" sz="7299" b="true">
                <a:solidFill>
                  <a:srgbClr val="0E2F81"/>
                </a:solidFill>
                <a:latin typeface="Passion One Bold"/>
                <a:ea typeface="Passion One Bold"/>
                <a:cs typeface="Passion One Bold"/>
                <a:sym typeface="Passion One Bold"/>
              </a:rPr>
              <a:t>Q-LEARNING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41093"/>
            <a:ext cx="3377744" cy="3891783"/>
          </a:xfrm>
          <a:custGeom>
            <a:avLst/>
            <a:gdLst/>
            <a:ahLst/>
            <a:cxnLst/>
            <a:rect r="r" b="b" t="t" l="l"/>
            <a:pathLst>
              <a:path h="3891783" w="3377744">
                <a:moveTo>
                  <a:pt x="0" y="0"/>
                </a:moveTo>
                <a:lnTo>
                  <a:pt x="3377744" y="0"/>
                </a:lnTo>
                <a:lnTo>
                  <a:pt x="3377744" y="3891783"/>
                </a:lnTo>
                <a:lnTo>
                  <a:pt x="0" y="3891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53153" y="1584134"/>
            <a:ext cx="7090118" cy="5920338"/>
          </a:xfrm>
          <a:custGeom>
            <a:avLst/>
            <a:gdLst/>
            <a:ahLst/>
            <a:cxnLst/>
            <a:rect r="r" b="b" t="t" l="l"/>
            <a:pathLst>
              <a:path h="5920338" w="7090118">
                <a:moveTo>
                  <a:pt x="0" y="0"/>
                </a:moveTo>
                <a:lnTo>
                  <a:pt x="7090119" y="0"/>
                </a:lnTo>
                <a:lnTo>
                  <a:pt x="7090119" y="5920339"/>
                </a:lnTo>
                <a:lnTo>
                  <a:pt x="0" y="5920339"/>
                </a:lnTo>
                <a:lnTo>
                  <a:pt x="0" y="0"/>
                </a:lnTo>
                <a:close/>
              </a:path>
            </a:pathLst>
          </a:custGeom>
          <a:blipFill>
            <a:blip r:embed="rId4"/>
            <a:stretch>
              <a:fillRect l="0" t="0" r="0" b="0"/>
            </a:stretch>
          </a:blipFill>
        </p:spPr>
      </p:sp>
      <p:sp>
        <p:nvSpPr>
          <p:cNvPr name="Freeform 4" id="4"/>
          <p:cNvSpPr/>
          <p:nvPr/>
        </p:nvSpPr>
        <p:spPr>
          <a:xfrm flipH="false" flipV="false" rot="0">
            <a:off x="9843272" y="2389315"/>
            <a:ext cx="6553593" cy="4656725"/>
          </a:xfrm>
          <a:custGeom>
            <a:avLst/>
            <a:gdLst/>
            <a:ahLst/>
            <a:cxnLst/>
            <a:rect r="r" b="b" t="t" l="l"/>
            <a:pathLst>
              <a:path h="4656725" w="6553593">
                <a:moveTo>
                  <a:pt x="0" y="0"/>
                </a:moveTo>
                <a:lnTo>
                  <a:pt x="6553592" y="0"/>
                </a:lnTo>
                <a:lnTo>
                  <a:pt x="6553592" y="4656724"/>
                </a:lnTo>
                <a:lnTo>
                  <a:pt x="0" y="4656724"/>
                </a:lnTo>
                <a:lnTo>
                  <a:pt x="0" y="0"/>
                </a:lnTo>
                <a:close/>
              </a:path>
            </a:pathLst>
          </a:custGeom>
          <a:blipFill>
            <a:blip r:embed="rId5"/>
            <a:stretch>
              <a:fillRect l="0" t="0" r="0" b="0"/>
            </a:stretch>
          </a:blipFill>
        </p:spPr>
      </p:sp>
      <p:sp>
        <p:nvSpPr>
          <p:cNvPr name="TextBox 5" id="5"/>
          <p:cNvSpPr txBox="true"/>
          <p:nvPr/>
        </p:nvSpPr>
        <p:spPr>
          <a:xfrm rot="0">
            <a:off x="3727123" y="558991"/>
            <a:ext cx="11772171"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KODE PROGRAM </a:t>
            </a:r>
            <a:r>
              <a:rPr lang="en-US" sz="7299" b="true">
                <a:solidFill>
                  <a:srgbClr val="0E2F81"/>
                </a:solidFill>
                <a:latin typeface="Passion One Bold"/>
                <a:ea typeface="Passion One Bold"/>
                <a:cs typeface="Passion One Bold"/>
                <a:sym typeface="Passion One Bold"/>
              </a:rPr>
              <a:t>Q-LEARNING</a:t>
            </a:r>
          </a:p>
        </p:txBody>
      </p:sp>
      <p:sp>
        <p:nvSpPr>
          <p:cNvPr name="TextBox 6" id="6"/>
          <p:cNvSpPr txBox="true"/>
          <p:nvPr/>
        </p:nvSpPr>
        <p:spPr>
          <a:xfrm rot="0">
            <a:off x="1371152" y="7794069"/>
            <a:ext cx="16224933" cy="1865789"/>
          </a:xfrm>
          <a:prstGeom prst="rect">
            <a:avLst/>
          </a:prstGeom>
        </p:spPr>
        <p:txBody>
          <a:bodyPr anchor="t" rtlCol="false" tIns="0" lIns="0" bIns="0" rIns="0">
            <a:spAutoFit/>
          </a:bodyPr>
          <a:lstStyle/>
          <a:p>
            <a:pPr algn="just">
              <a:lnSpc>
                <a:spcPts val="3740"/>
              </a:lnSpc>
            </a:pPr>
            <a:r>
              <a:rPr lang="en-US" sz="2671">
                <a:solidFill>
                  <a:srgbClr val="000000"/>
                </a:solidFill>
                <a:latin typeface="Inter"/>
                <a:ea typeface="Inter"/>
                <a:cs typeface="Inter"/>
                <a:sym typeface="Inter"/>
              </a:rPr>
              <a:t>Model menghasilkan rute paling efisien 0–1–3–9–10, yaitu jalur tercepat menuju lokasi bandar narkoba setelah proses pembelajaran Q-Learning.</a:t>
            </a:r>
            <a:r>
              <a:rPr lang="en-US" sz="2671">
                <a:solidFill>
                  <a:srgbClr val="000000"/>
                </a:solidFill>
                <a:latin typeface="Inter"/>
                <a:ea typeface="Inter"/>
                <a:cs typeface="Inter"/>
                <a:sym typeface="Inter"/>
              </a:rPr>
              <a:t> Grafik reward menunjukkan peningkatan tajam di awal, lalu stabil di akhir, menandakan jika agen sudah menemukan strategi optimal dan proses belajar sudah konvergen.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41093"/>
            <a:ext cx="3377744" cy="3891783"/>
          </a:xfrm>
          <a:custGeom>
            <a:avLst/>
            <a:gdLst/>
            <a:ahLst/>
            <a:cxnLst/>
            <a:rect r="r" b="b" t="t" l="l"/>
            <a:pathLst>
              <a:path h="3891783" w="3377744">
                <a:moveTo>
                  <a:pt x="0" y="0"/>
                </a:moveTo>
                <a:lnTo>
                  <a:pt x="3377744" y="0"/>
                </a:lnTo>
                <a:lnTo>
                  <a:pt x="3377744" y="3891783"/>
                </a:lnTo>
                <a:lnTo>
                  <a:pt x="0" y="3891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92056" y="2181416"/>
            <a:ext cx="7767244" cy="5924169"/>
          </a:xfrm>
          <a:custGeom>
            <a:avLst/>
            <a:gdLst/>
            <a:ahLst/>
            <a:cxnLst/>
            <a:rect r="r" b="b" t="t" l="l"/>
            <a:pathLst>
              <a:path h="5924169" w="7767244">
                <a:moveTo>
                  <a:pt x="0" y="0"/>
                </a:moveTo>
                <a:lnTo>
                  <a:pt x="7767244" y="0"/>
                </a:lnTo>
                <a:lnTo>
                  <a:pt x="7767244" y="5924168"/>
                </a:lnTo>
                <a:lnTo>
                  <a:pt x="0" y="5924168"/>
                </a:lnTo>
                <a:lnTo>
                  <a:pt x="0" y="0"/>
                </a:lnTo>
                <a:close/>
              </a:path>
            </a:pathLst>
          </a:custGeom>
          <a:blipFill>
            <a:blip r:embed="rId4"/>
            <a:stretch>
              <a:fillRect l="0" t="0" r="0" b="0"/>
            </a:stretch>
          </a:blipFill>
        </p:spPr>
      </p:sp>
      <p:sp>
        <p:nvSpPr>
          <p:cNvPr name="Freeform 4" id="4"/>
          <p:cNvSpPr/>
          <p:nvPr/>
        </p:nvSpPr>
        <p:spPr>
          <a:xfrm flipH="false" flipV="false" rot="0">
            <a:off x="2489552" y="2181416"/>
            <a:ext cx="6654448" cy="6632913"/>
          </a:xfrm>
          <a:custGeom>
            <a:avLst/>
            <a:gdLst/>
            <a:ahLst/>
            <a:cxnLst/>
            <a:rect r="r" b="b" t="t" l="l"/>
            <a:pathLst>
              <a:path h="6632913" w="6654448">
                <a:moveTo>
                  <a:pt x="0" y="0"/>
                </a:moveTo>
                <a:lnTo>
                  <a:pt x="6654448" y="0"/>
                </a:lnTo>
                <a:lnTo>
                  <a:pt x="6654448" y="6632912"/>
                </a:lnTo>
                <a:lnTo>
                  <a:pt x="0" y="6632912"/>
                </a:lnTo>
                <a:lnTo>
                  <a:pt x="0" y="0"/>
                </a:lnTo>
                <a:close/>
              </a:path>
            </a:pathLst>
          </a:custGeom>
          <a:blipFill>
            <a:blip r:embed="rId5"/>
            <a:stretch>
              <a:fillRect l="0" t="0" r="0" b="0"/>
            </a:stretch>
          </a:blipFill>
        </p:spPr>
      </p:sp>
      <p:sp>
        <p:nvSpPr>
          <p:cNvPr name="TextBox 5" id="5"/>
          <p:cNvSpPr txBox="true"/>
          <p:nvPr/>
        </p:nvSpPr>
        <p:spPr>
          <a:xfrm rot="0">
            <a:off x="3727123" y="558991"/>
            <a:ext cx="11772171"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KODE PROGRAM </a:t>
            </a:r>
            <a:r>
              <a:rPr lang="en-US" sz="7299" b="true">
                <a:solidFill>
                  <a:srgbClr val="0E2F81"/>
                </a:solidFill>
                <a:latin typeface="Passion One Bold"/>
                <a:ea typeface="Passion One Bold"/>
                <a:cs typeface="Passion One Bold"/>
                <a:sym typeface="Passion One Bold"/>
              </a:rPr>
              <a:t>Q-LEARNING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41093"/>
            <a:ext cx="3377744" cy="3891783"/>
          </a:xfrm>
          <a:custGeom>
            <a:avLst/>
            <a:gdLst/>
            <a:ahLst/>
            <a:cxnLst/>
            <a:rect r="r" b="b" t="t" l="l"/>
            <a:pathLst>
              <a:path h="3891783" w="3377744">
                <a:moveTo>
                  <a:pt x="0" y="0"/>
                </a:moveTo>
                <a:lnTo>
                  <a:pt x="3377744" y="0"/>
                </a:lnTo>
                <a:lnTo>
                  <a:pt x="3377744" y="3891783"/>
                </a:lnTo>
                <a:lnTo>
                  <a:pt x="0" y="3891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59866" y="2154985"/>
            <a:ext cx="8525013" cy="4803777"/>
          </a:xfrm>
          <a:custGeom>
            <a:avLst/>
            <a:gdLst/>
            <a:ahLst/>
            <a:cxnLst/>
            <a:rect r="r" b="b" t="t" l="l"/>
            <a:pathLst>
              <a:path h="4803777" w="8525013">
                <a:moveTo>
                  <a:pt x="0" y="0"/>
                </a:moveTo>
                <a:lnTo>
                  <a:pt x="8525013" y="0"/>
                </a:lnTo>
                <a:lnTo>
                  <a:pt x="8525013" y="4803777"/>
                </a:lnTo>
                <a:lnTo>
                  <a:pt x="0" y="4803777"/>
                </a:lnTo>
                <a:lnTo>
                  <a:pt x="0" y="0"/>
                </a:lnTo>
                <a:close/>
              </a:path>
            </a:pathLst>
          </a:custGeom>
          <a:blipFill>
            <a:blip r:embed="rId4"/>
            <a:stretch>
              <a:fillRect l="0" t="0" r="0" b="0"/>
            </a:stretch>
          </a:blipFill>
        </p:spPr>
      </p:sp>
      <p:sp>
        <p:nvSpPr>
          <p:cNvPr name="Freeform 4" id="4"/>
          <p:cNvSpPr/>
          <p:nvPr/>
        </p:nvSpPr>
        <p:spPr>
          <a:xfrm flipH="false" flipV="false" rot="0">
            <a:off x="9911673" y="2154985"/>
            <a:ext cx="5587621" cy="6669096"/>
          </a:xfrm>
          <a:custGeom>
            <a:avLst/>
            <a:gdLst/>
            <a:ahLst/>
            <a:cxnLst/>
            <a:rect r="r" b="b" t="t" l="l"/>
            <a:pathLst>
              <a:path h="6669096" w="5587621">
                <a:moveTo>
                  <a:pt x="0" y="0"/>
                </a:moveTo>
                <a:lnTo>
                  <a:pt x="5587621" y="0"/>
                </a:lnTo>
                <a:lnTo>
                  <a:pt x="5587621" y="6669097"/>
                </a:lnTo>
                <a:lnTo>
                  <a:pt x="0" y="6669097"/>
                </a:lnTo>
                <a:lnTo>
                  <a:pt x="0" y="0"/>
                </a:lnTo>
                <a:close/>
              </a:path>
            </a:pathLst>
          </a:custGeom>
          <a:blipFill>
            <a:blip r:embed="rId5"/>
            <a:stretch>
              <a:fillRect l="0" t="0" r="0" b="0"/>
            </a:stretch>
          </a:blipFill>
        </p:spPr>
      </p:sp>
      <p:sp>
        <p:nvSpPr>
          <p:cNvPr name="TextBox 5" id="5"/>
          <p:cNvSpPr txBox="true"/>
          <p:nvPr/>
        </p:nvSpPr>
        <p:spPr>
          <a:xfrm rot="0">
            <a:off x="3727123" y="558991"/>
            <a:ext cx="11772171" cy="1025144"/>
          </a:xfrm>
          <a:prstGeom prst="rect">
            <a:avLst/>
          </a:prstGeom>
        </p:spPr>
        <p:txBody>
          <a:bodyPr anchor="t" rtlCol="false" tIns="0" lIns="0" bIns="0" rIns="0">
            <a:spAutoFit/>
          </a:bodyPr>
          <a:lstStyle/>
          <a:p>
            <a:pPr algn="l">
              <a:lnSpc>
                <a:spcPts val="7737"/>
              </a:lnSpc>
            </a:pPr>
            <a:r>
              <a:rPr lang="en-US" sz="7299" b="true">
                <a:solidFill>
                  <a:srgbClr val="000000"/>
                </a:solidFill>
                <a:latin typeface="Passion One Bold"/>
                <a:ea typeface="Passion One Bold"/>
                <a:cs typeface="Passion One Bold"/>
                <a:sym typeface="Passion One Bold"/>
              </a:rPr>
              <a:t>KODE PROGRAM </a:t>
            </a:r>
            <a:r>
              <a:rPr lang="en-US" sz="7299" b="true">
                <a:solidFill>
                  <a:srgbClr val="0E2F81"/>
                </a:solidFill>
                <a:latin typeface="Passion One Bold"/>
                <a:ea typeface="Passion One Bold"/>
                <a:cs typeface="Passion One Bold"/>
                <a:sym typeface="Passion One Bold"/>
              </a:rPr>
              <a:t>Q-LEARNING</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82553" y="682368"/>
            <a:ext cx="8508457" cy="5136981"/>
          </a:xfrm>
          <a:custGeom>
            <a:avLst/>
            <a:gdLst/>
            <a:ahLst/>
            <a:cxnLst/>
            <a:rect r="r" b="b" t="t" l="l"/>
            <a:pathLst>
              <a:path h="5136981" w="8508457">
                <a:moveTo>
                  <a:pt x="0" y="0"/>
                </a:moveTo>
                <a:lnTo>
                  <a:pt x="8508458" y="0"/>
                </a:lnTo>
                <a:lnTo>
                  <a:pt x="8508458" y="5136981"/>
                </a:lnTo>
                <a:lnTo>
                  <a:pt x="0" y="5136981"/>
                </a:lnTo>
                <a:lnTo>
                  <a:pt x="0" y="0"/>
                </a:lnTo>
                <a:close/>
              </a:path>
            </a:pathLst>
          </a:custGeom>
          <a:blipFill>
            <a:blip r:embed="rId2"/>
            <a:stretch>
              <a:fillRect l="0" t="0" r="0" b="0"/>
            </a:stretch>
          </a:blipFill>
        </p:spPr>
      </p:sp>
      <p:sp>
        <p:nvSpPr>
          <p:cNvPr name="Freeform 3" id="3"/>
          <p:cNvSpPr/>
          <p:nvPr/>
        </p:nvSpPr>
        <p:spPr>
          <a:xfrm flipH="false" flipV="true" rot="5400000">
            <a:off x="11762095" y="682368"/>
            <a:ext cx="8508457" cy="5136981"/>
          </a:xfrm>
          <a:custGeom>
            <a:avLst/>
            <a:gdLst/>
            <a:ahLst/>
            <a:cxnLst/>
            <a:rect r="r" b="b" t="t" l="l"/>
            <a:pathLst>
              <a:path h="5136981" w="8508457">
                <a:moveTo>
                  <a:pt x="0" y="5136981"/>
                </a:moveTo>
                <a:lnTo>
                  <a:pt x="8508458" y="5136981"/>
                </a:lnTo>
                <a:lnTo>
                  <a:pt x="8508458" y="0"/>
                </a:lnTo>
                <a:lnTo>
                  <a:pt x="0" y="0"/>
                </a:lnTo>
                <a:lnTo>
                  <a:pt x="0" y="5136981"/>
                </a:lnTo>
                <a:close/>
              </a:path>
            </a:pathLst>
          </a:custGeom>
          <a:blipFill>
            <a:blip r:embed="rId2"/>
            <a:stretch>
              <a:fillRect l="0" t="0" r="0" b="0"/>
            </a:stretch>
          </a:blipFill>
        </p:spPr>
      </p:sp>
      <p:sp>
        <p:nvSpPr>
          <p:cNvPr name="TextBox 4" id="4"/>
          <p:cNvSpPr txBox="true"/>
          <p:nvPr/>
        </p:nvSpPr>
        <p:spPr>
          <a:xfrm rot="0">
            <a:off x="4840167" y="1602950"/>
            <a:ext cx="8607667" cy="1025144"/>
          </a:xfrm>
          <a:prstGeom prst="rect">
            <a:avLst/>
          </a:prstGeom>
        </p:spPr>
        <p:txBody>
          <a:bodyPr anchor="t" rtlCol="false" tIns="0" lIns="0" bIns="0" rIns="0">
            <a:spAutoFit/>
          </a:bodyPr>
          <a:lstStyle/>
          <a:p>
            <a:pPr algn="ctr">
              <a:lnSpc>
                <a:spcPts val="7737"/>
              </a:lnSpc>
            </a:pPr>
            <a:r>
              <a:rPr lang="en-US" b="true" sz="7299">
                <a:solidFill>
                  <a:srgbClr val="0E2F81"/>
                </a:solidFill>
                <a:latin typeface="Passion One Bold"/>
                <a:ea typeface="Passion One Bold"/>
                <a:cs typeface="Passion One Bold"/>
                <a:sym typeface="Passion One Bold"/>
              </a:rPr>
              <a:t>KESIMPULAN</a:t>
            </a:r>
          </a:p>
        </p:txBody>
      </p:sp>
      <p:sp>
        <p:nvSpPr>
          <p:cNvPr name="TextBox 5" id="5"/>
          <p:cNvSpPr txBox="true"/>
          <p:nvPr/>
        </p:nvSpPr>
        <p:spPr>
          <a:xfrm rot="0">
            <a:off x="2832006" y="3290913"/>
            <a:ext cx="12861928" cy="5558405"/>
          </a:xfrm>
          <a:prstGeom prst="rect">
            <a:avLst/>
          </a:prstGeom>
        </p:spPr>
        <p:txBody>
          <a:bodyPr anchor="t" rtlCol="false" tIns="0" lIns="0" bIns="0" rIns="0">
            <a:spAutoFit/>
          </a:bodyPr>
          <a:lstStyle/>
          <a:p>
            <a:pPr algn="just">
              <a:lnSpc>
                <a:spcPts val="3381"/>
              </a:lnSpc>
            </a:pPr>
            <a:r>
              <a:rPr lang="en-US" sz="2415">
                <a:solidFill>
                  <a:srgbClr val="000000"/>
                </a:solidFill>
                <a:latin typeface="Inter"/>
                <a:ea typeface="Inter"/>
                <a:cs typeface="Inter"/>
                <a:sym typeface="Inter"/>
              </a:rPr>
              <a:t>Dapat diambil kesimpulan bahwa Q-Learni</a:t>
            </a:r>
            <a:r>
              <a:rPr lang="en-US" sz="2415">
                <a:solidFill>
                  <a:srgbClr val="000000"/>
                </a:solidFill>
                <a:latin typeface="Inter"/>
                <a:ea typeface="Inter"/>
                <a:cs typeface="Inter"/>
                <a:sym typeface="Inter"/>
              </a:rPr>
              <a:t>ng adalah metode reinforcement learning berbasis tabel (Q-Table) yang memungkinkan agen belajar mengambil keputusan optimal melalui proses trial-and-error . Q-Learning bekerja dengan merepresentasikan masalah dalam bentuk state, action, reward, policy, dan Q-value, lalu secara berulang memperbarui nilai Q menggunakan persamaan Bellman dan Temporal Difference Learning sampai nilai Q stabil. Pada studi kasus pencarian rute menuju node tujuan dan perluasan kasus dengan node polisi serta jejak narkoba, terlihat bahwa agen mampu belajar memilih jalur yang paling menguntungkan sekaligus menghindari jalur berisiko berdasarkan reward dan bantuan informasi lingkungan. Hal ini menunjukkan bahwa Q-Learning efektif digunakan untuk masalah pengambilan keputusan bertahap, seperti penentuan rute, perencanaan langkah, maupun sistem cerdas lain yang membutuhkan strategi optimal berbasis pengalaman. </a:t>
            </a:r>
          </a:p>
          <a:p>
            <a:pPr algn="just">
              <a:lnSpc>
                <a:spcPts val="3381"/>
              </a:lnSpc>
            </a:pPr>
          </a:p>
        </p:txBody>
      </p:sp>
      <p:sp>
        <p:nvSpPr>
          <p:cNvPr name="Freeform 6" id="6"/>
          <p:cNvSpPr/>
          <p:nvPr/>
        </p:nvSpPr>
        <p:spPr>
          <a:xfrm flipH="false" flipV="false" rot="-5400000">
            <a:off x="1274372" y="6269843"/>
            <a:ext cx="1674907" cy="795581"/>
          </a:xfrm>
          <a:custGeom>
            <a:avLst/>
            <a:gdLst/>
            <a:ahLst/>
            <a:cxnLst/>
            <a:rect r="r" b="b" t="t" l="l"/>
            <a:pathLst>
              <a:path h="795581" w="1674907">
                <a:moveTo>
                  <a:pt x="0" y="0"/>
                </a:moveTo>
                <a:lnTo>
                  <a:pt x="1674907" y="0"/>
                </a:lnTo>
                <a:lnTo>
                  <a:pt x="1674907" y="795581"/>
                </a:lnTo>
                <a:lnTo>
                  <a:pt x="0" y="7955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00000">
            <a:off x="15576661" y="6269843"/>
            <a:ext cx="1674907" cy="795581"/>
          </a:xfrm>
          <a:custGeom>
            <a:avLst/>
            <a:gdLst/>
            <a:ahLst/>
            <a:cxnLst/>
            <a:rect r="r" b="b" t="t" l="l"/>
            <a:pathLst>
              <a:path h="795581" w="1674907">
                <a:moveTo>
                  <a:pt x="0" y="0"/>
                </a:moveTo>
                <a:lnTo>
                  <a:pt x="1674907" y="0"/>
                </a:lnTo>
                <a:lnTo>
                  <a:pt x="1674907" y="795581"/>
                </a:lnTo>
                <a:lnTo>
                  <a:pt x="0" y="7955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987566" y="9557081"/>
            <a:ext cx="10746403" cy="1118531"/>
            <a:chOff x="0" y="0"/>
            <a:chExt cx="2830328" cy="294593"/>
          </a:xfrm>
        </p:grpSpPr>
        <p:sp>
          <p:nvSpPr>
            <p:cNvPr name="Freeform 3" id="3"/>
            <p:cNvSpPr/>
            <p:nvPr/>
          </p:nvSpPr>
          <p:spPr>
            <a:xfrm flipH="false" flipV="false" rot="0">
              <a:off x="0" y="0"/>
              <a:ext cx="2830328" cy="294593"/>
            </a:xfrm>
            <a:custGeom>
              <a:avLst/>
              <a:gdLst/>
              <a:ahLst/>
              <a:cxnLst/>
              <a:rect r="r" b="b" t="t" l="l"/>
              <a:pathLst>
                <a:path h="294593" w="2830328">
                  <a:moveTo>
                    <a:pt x="0" y="0"/>
                  </a:moveTo>
                  <a:lnTo>
                    <a:pt x="2830328" y="0"/>
                  </a:lnTo>
                  <a:lnTo>
                    <a:pt x="2830328" y="294593"/>
                  </a:lnTo>
                  <a:lnTo>
                    <a:pt x="0" y="294593"/>
                  </a:lnTo>
                  <a:close/>
                </a:path>
              </a:pathLst>
            </a:custGeom>
            <a:solidFill>
              <a:srgbClr val="043EA2"/>
            </a:solidFill>
          </p:spPr>
        </p:sp>
        <p:sp>
          <p:nvSpPr>
            <p:cNvPr name="TextBox 4" id="4"/>
            <p:cNvSpPr txBox="true"/>
            <p:nvPr/>
          </p:nvSpPr>
          <p:spPr>
            <a:xfrm>
              <a:off x="0" y="-38100"/>
              <a:ext cx="2830328" cy="33269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135454" y="3857139"/>
            <a:ext cx="11093947" cy="6697970"/>
          </a:xfrm>
          <a:custGeom>
            <a:avLst/>
            <a:gdLst/>
            <a:ahLst/>
            <a:cxnLst/>
            <a:rect r="r" b="b" t="t" l="l"/>
            <a:pathLst>
              <a:path h="6697970" w="11093947">
                <a:moveTo>
                  <a:pt x="0" y="0"/>
                </a:moveTo>
                <a:lnTo>
                  <a:pt x="11093947" y="0"/>
                </a:lnTo>
                <a:lnTo>
                  <a:pt x="11093947" y="6697970"/>
                </a:lnTo>
                <a:lnTo>
                  <a:pt x="0" y="6697970"/>
                </a:lnTo>
                <a:lnTo>
                  <a:pt x="0" y="0"/>
                </a:lnTo>
                <a:close/>
              </a:path>
            </a:pathLst>
          </a:custGeom>
          <a:blipFill>
            <a:blip r:embed="rId2"/>
            <a:stretch>
              <a:fillRect l="0" t="0" r="0" b="0"/>
            </a:stretch>
          </a:blipFill>
        </p:spPr>
      </p:sp>
      <p:sp>
        <p:nvSpPr>
          <p:cNvPr name="TextBox 6" id="6"/>
          <p:cNvSpPr txBox="true"/>
          <p:nvPr/>
        </p:nvSpPr>
        <p:spPr>
          <a:xfrm rot="0">
            <a:off x="1917228" y="3539534"/>
            <a:ext cx="14453544" cy="2302956"/>
          </a:xfrm>
          <a:prstGeom prst="rect">
            <a:avLst/>
          </a:prstGeom>
        </p:spPr>
        <p:txBody>
          <a:bodyPr anchor="t" rtlCol="false" tIns="0" lIns="0" bIns="0" rIns="0">
            <a:spAutoFit/>
          </a:bodyPr>
          <a:lstStyle/>
          <a:p>
            <a:pPr algn="ctr">
              <a:lnSpc>
                <a:spcPts val="17478"/>
              </a:lnSpc>
            </a:pPr>
            <a:r>
              <a:rPr lang="en-US" b="true" sz="16489">
                <a:solidFill>
                  <a:srgbClr val="000000"/>
                </a:solidFill>
                <a:latin typeface="Passion One Bold"/>
                <a:ea typeface="Passion One Bold"/>
                <a:cs typeface="Passion One Bold"/>
                <a:sym typeface="Passion One Bold"/>
              </a:rPr>
              <a:t>TERIMA</a:t>
            </a:r>
            <a:r>
              <a:rPr lang="en-US" b="true" sz="16489">
                <a:solidFill>
                  <a:srgbClr val="0E2F81"/>
                </a:solidFill>
                <a:latin typeface="Passion One Bold"/>
                <a:ea typeface="Passion One Bold"/>
                <a:cs typeface="Passion One Bold"/>
                <a:sym typeface="Passion One Bold"/>
              </a:rPr>
              <a:t> KASIH</a:t>
            </a:r>
          </a:p>
        </p:txBody>
      </p:sp>
      <p:sp>
        <p:nvSpPr>
          <p:cNvPr name="Freeform 7" id="7"/>
          <p:cNvSpPr/>
          <p:nvPr/>
        </p:nvSpPr>
        <p:spPr>
          <a:xfrm flipH="true" flipV="true" rot="0">
            <a:off x="12269423" y="-140063"/>
            <a:ext cx="6230002" cy="3761364"/>
          </a:xfrm>
          <a:custGeom>
            <a:avLst/>
            <a:gdLst/>
            <a:ahLst/>
            <a:cxnLst/>
            <a:rect r="r" b="b" t="t" l="l"/>
            <a:pathLst>
              <a:path h="3761364" w="6230002">
                <a:moveTo>
                  <a:pt x="6230002" y="3761364"/>
                </a:moveTo>
                <a:lnTo>
                  <a:pt x="0" y="3761364"/>
                </a:lnTo>
                <a:lnTo>
                  <a:pt x="0" y="0"/>
                </a:lnTo>
                <a:lnTo>
                  <a:pt x="6230002" y="0"/>
                </a:lnTo>
                <a:lnTo>
                  <a:pt x="6230002" y="3761364"/>
                </a:lnTo>
                <a:close/>
              </a:path>
            </a:pathLst>
          </a:custGeom>
          <a:blipFill>
            <a:blip r:embed="rId3"/>
            <a:stretch>
              <a:fillRect l="0" t="0" r="0" b="0"/>
            </a:stretch>
          </a:blipFill>
        </p:spPr>
      </p:sp>
      <p:sp>
        <p:nvSpPr>
          <p:cNvPr name="Freeform 8" id="8"/>
          <p:cNvSpPr/>
          <p:nvPr/>
        </p:nvSpPr>
        <p:spPr>
          <a:xfrm flipH="true" flipV="false" rot="0">
            <a:off x="14461172" y="7246256"/>
            <a:ext cx="1909599" cy="907060"/>
          </a:xfrm>
          <a:custGeom>
            <a:avLst/>
            <a:gdLst/>
            <a:ahLst/>
            <a:cxnLst/>
            <a:rect r="r" b="b" t="t" l="l"/>
            <a:pathLst>
              <a:path h="907060" w="1909599">
                <a:moveTo>
                  <a:pt x="1909600" y="0"/>
                </a:moveTo>
                <a:lnTo>
                  <a:pt x="0" y="0"/>
                </a:lnTo>
                <a:lnTo>
                  <a:pt x="0" y="907059"/>
                </a:lnTo>
                <a:lnTo>
                  <a:pt x="1909600" y="907059"/>
                </a:lnTo>
                <a:lnTo>
                  <a:pt x="19096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022902" y="1557278"/>
            <a:ext cx="1636274" cy="688599"/>
          </a:xfrm>
          <a:custGeom>
            <a:avLst/>
            <a:gdLst/>
            <a:ahLst/>
            <a:cxnLst/>
            <a:rect r="r" b="b" t="t" l="l"/>
            <a:pathLst>
              <a:path h="688599" w="1636274">
                <a:moveTo>
                  <a:pt x="0" y="0"/>
                </a:moveTo>
                <a:lnTo>
                  <a:pt x="1636274" y="0"/>
                </a:lnTo>
                <a:lnTo>
                  <a:pt x="1636274" y="688599"/>
                </a:lnTo>
                <a:lnTo>
                  <a:pt x="0" y="6885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DAG5SoH37XA</dc:identifier>
  <dcterms:modified xsi:type="dcterms:W3CDTF">2011-08-01T06:04:30Z</dcterms:modified>
  <cp:revision>1</cp:revision>
  <dc:title>Q-LEARNING</dc:title>
</cp:coreProperties>
</file>